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183452"/>
                </a:solidFill>
                <a:latin typeface="Microsoft YaHei"/>
              </a:rPr>
              <a:t>XEdu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0">
                <a:solidFill>
                  <a:srgbClr val="127062"/>
                </a:solidFill>
                <a:latin typeface="Microsoft YaHei"/>
              </a:rPr>
              <a:t>面向课堂实验的 Jupyter + Blockly 一体化人工智能学习工具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15468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26476"/>
                </a:solidFill>
                <a:latin typeface="Microsoft YaHei"/>
              </a:rPr>
              <a:t>创AI案例 · 人工智能学习工具 · 初中人工智能通识课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3611880"/>
            <a:ext cx="4069080" cy="822960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E0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0584"/>
          <a:lstStyle/>
          <a:p>
            <a:pPr algn="ctr"/>
            <a:r>
              <a:rPr sz="1300" b="1">
                <a:solidFill>
                  <a:srgbClr val="CA622A"/>
                </a:solidFill>
                <a:latin typeface="Microsoft YaHei"/>
              </a:rPr>
              <a:t>【待补】封面信息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作者：[待填写]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单位：[待填写]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应用学校/班级：[待填写]</a:t>
            </a:r>
          </a:p>
        </p:txBody>
      </p:sp>
      <p:pic>
        <p:nvPicPr>
          <p:cNvPr id="8" name="Picture 7" descr="figure_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78992"/>
            <a:ext cx="5257800" cy="29626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" y="4617720"/>
            <a:ext cx="1828800" cy="457200"/>
          </a:xfrm>
          <a:prstGeom prst="round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实验环境承载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617720"/>
            <a:ext cx="1828800" cy="457200"/>
          </a:xfrm>
          <a:prstGeom prst="roundRect">
            <a:avLst/>
          </a:prstGeom>
          <a:solidFill>
            <a:srgbClr val="18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学习主线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4617720"/>
            <a:ext cx="2011680" cy="457200"/>
          </a:xfrm>
          <a:prstGeom prst="round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XEduHub工具箱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4617720"/>
            <a:ext cx="2011680" cy="457200"/>
          </a:xfrm>
          <a:prstGeom prst="roundRect">
            <a:avLst/>
          </a:prstGeom>
          <a:solidFill>
            <a:srgbClr val="CA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课程共建更新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7062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452"/>
                </a:solidFill>
                <a:latin typeface="Microsoft YaHei"/>
              </a:rPr>
              <a:t>为什么需要平台化实验环境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412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476"/>
                </a:solidFill>
                <a:latin typeface="Microsoft YaHei"/>
              </a:rPr>
              <a:t>四类课堂问题对应四类平台能力</a:t>
            </a:r>
          </a:p>
        </p:txBody>
      </p:sp>
      <p:pic>
        <p:nvPicPr>
          <p:cNvPr id="7" name="Picture 6" descr="figure_1_problem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90372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600200"/>
            <a:ext cx="3611880" cy="192024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核心判断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环境、工具、资源分散，课堂进入成本高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讲解、积木、代码之间缺少连续路径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课程需要共享、复用、持续更新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840480"/>
            <a:ext cx="361188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案例定位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不是单点工具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而是课堂实验平台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7062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452"/>
                </a:solidFill>
                <a:latin typeface="Microsoft YaHei"/>
              </a:rPr>
              <a:t>总体架构：桌面端 + 本地服务 + 课程资源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412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476"/>
                </a:solidFill>
                <a:latin typeface="Microsoft YaHei"/>
              </a:rPr>
              <a:t>用统一工作台承载人工智能实验环境</a:t>
            </a:r>
          </a:p>
        </p:txBody>
      </p:sp>
      <p:pic>
        <p:nvPicPr>
          <p:cNvPr id="7" name="Picture 6" descr="figure_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452360" cy="4187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63040"/>
            <a:ext cx="3246120" cy="246888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架构要点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Electron 提供桌面端入口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HTML / Blockly / Jupyter 形成教学工作台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XEduHub、课程目录、云端仓库支撑平台化扩展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7062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452"/>
                </a:solidFill>
                <a:latin typeface="Microsoft YaHei"/>
              </a:rPr>
              <a:t>学习主线：HTML—Blockly—Jupyter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412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476"/>
                </a:solidFill>
                <a:latin typeface="Microsoft YaHei"/>
              </a:rPr>
              <a:t>不是三个入口并列，而是体验、实践、应用创新的递进路径</a:t>
            </a:r>
          </a:p>
        </p:txBody>
      </p:sp>
      <p:pic>
        <p:nvPicPr>
          <p:cNvPr id="7" name="Picture 6" descr="figure_3_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7772400" cy="43708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554480"/>
            <a:ext cx="2788920" cy="278892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课堂价值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HTML：任务情境与问题感知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Blockly：低门槛理解检测—裁剪—分类流程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Jupyter：阅读代码、修改参数、复现实验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7062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452"/>
                </a:solidFill>
                <a:latin typeface="Microsoft YaHei"/>
              </a:rPr>
              <a:t>XEduHub：人工智能实验能力底座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412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476"/>
                </a:solidFill>
                <a:latin typeface="Microsoft YaHei"/>
              </a:rPr>
              <a:t>把输入、模型、流程和结果从零散脚本中抽象出来</a:t>
            </a:r>
          </a:p>
        </p:txBody>
      </p:sp>
      <p:pic>
        <p:nvPicPr>
          <p:cNvPr id="7" name="Picture 6" descr="figure_4_xedu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73152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600200"/>
            <a:ext cx="3154680" cy="224028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工具箱作用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同时支撑 Blockly 与 Jupyter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沉淀可复用 AI 实验能力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便于后续扩展更多课程样例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7062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452"/>
                </a:solidFill>
                <a:latin typeface="Microsoft YaHei"/>
              </a:rPr>
              <a:t>课程资源：从个人文件夹到可迭代资产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412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476"/>
                </a:solidFill>
                <a:latin typeface="Microsoft YaHei"/>
              </a:rPr>
              <a:t>上一节、改一节、同步一节</a:t>
            </a:r>
          </a:p>
        </p:txBody>
      </p:sp>
      <p:pic>
        <p:nvPicPr>
          <p:cNvPr id="7" name="Picture 6" descr="figure_5_course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257800" cy="2962656"/>
          </a:xfrm>
          <a:prstGeom prst="rect">
            <a:avLst/>
          </a:prstGeom>
        </p:spPr>
      </p:pic>
      <p:pic>
        <p:nvPicPr>
          <p:cNvPr id="8" name="Picture 7" descr="figure_5b_collaborative_co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257800" cy="29626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0120" y="4736592"/>
            <a:ext cx="10424160" cy="118872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协同机制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支持多教师围绕同一门课共同维护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课程可拉取、修订、上传、形成版本演进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教研组可共享一门课、共上一门课、共改一门课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681728"/>
            <a:ext cx="3657600" cy="1353312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E0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0584"/>
          <a:lstStyle/>
          <a:p>
            <a:pPr algn="ctr"/>
            <a:r>
              <a:rPr sz="1300" b="1">
                <a:solidFill>
                  <a:srgbClr val="CA622A"/>
                </a:solidFill>
                <a:latin typeface="Microsoft YaHei"/>
              </a:rPr>
              <a:t>【待补】真实共建证据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共同维护教师人数：[待填写]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课程版本/更新记录截图：[待补]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共享课程仓库或课程列表截图：[待补]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7062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452"/>
                </a:solidFill>
                <a:latin typeface="Microsoft YaHei"/>
              </a:rPr>
              <a:t>典型课堂应用流程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412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476"/>
                </a:solidFill>
                <a:latin typeface="Microsoft YaHei"/>
              </a:rPr>
              <a:t>教师侧与学生侧在同一平台完成课前、课中、课后闭环</a:t>
            </a:r>
          </a:p>
        </p:txBody>
      </p:sp>
      <p:pic>
        <p:nvPicPr>
          <p:cNvPr id="7" name="Picture 6" descr="figure_6_classroo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07008"/>
            <a:ext cx="7498079" cy="42245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03920" y="1600200"/>
            <a:ext cx="2926080" cy="256032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实施路径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课前：教师组织课程资源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课中：学生进入实验，完成 Blockly 与 Jupyter 实践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课后：教师更新课程，沉淀后续班级可复用资源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4343400"/>
            <a:ext cx="2926080" cy="1097280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E0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0584"/>
          <a:lstStyle/>
          <a:p>
            <a:pPr algn="ctr"/>
            <a:r>
              <a:rPr sz="1300" b="1">
                <a:solidFill>
                  <a:srgbClr val="CA622A"/>
                </a:solidFill>
                <a:latin typeface="Microsoft YaHei"/>
              </a:rPr>
              <a:t>【待补】课堂应用数据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应用学校：[待填写]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班级/人数：[待填写]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实施课时：[待填写]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7062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452"/>
                </a:solidFill>
                <a:latin typeface="Microsoft YaHei"/>
              </a:rPr>
              <a:t>样例任务：目标检测与细粒度分类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412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476"/>
                </a:solidFill>
                <a:latin typeface="Microsoft YaHei"/>
              </a:rPr>
              <a:t>用真实课程素材展示输入、检测、裁剪和代码实践链条</a:t>
            </a:r>
          </a:p>
        </p:txBody>
      </p:sp>
      <p:pic>
        <p:nvPicPr>
          <p:cNvPr id="7" name="Picture 6" descr="figure_7_sample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7726679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1554480"/>
            <a:ext cx="2743200" cy="283464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证据补充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演示主线固定为 01_目标检测与细粒度分类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从 Blockly 流程理解过渡到 Jupyter 代码复现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后续可补课堂照片、学生作品、AI 辅助开发证据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4526280"/>
            <a:ext cx="2743200" cy="1143000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E0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0584"/>
          <a:lstStyle/>
          <a:p>
            <a:pPr algn="ctr"/>
            <a:r>
              <a:rPr sz="1300" b="1">
                <a:solidFill>
                  <a:srgbClr val="CA622A"/>
                </a:solidFill>
                <a:latin typeface="Microsoft YaHei"/>
              </a:rPr>
              <a:t>【待补】真实素材替换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Blockly 截图：[待补]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Jupyter 运行截图：[待补]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学生作品/结果图：[待补]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A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7062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452"/>
                </a:solidFill>
                <a:latin typeface="Microsoft YaHei"/>
              </a:rPr>
              <a:t>应用成效与创新总结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412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26476"/>
                </a:solidFill>
                <a:latin typeface="Microsoft YaHei"/>
              </a:rPr>
              <a:t>降低门槛、增强连续性、提升课程复现与共建能力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5029200" cy="256032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应用成效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学生侧：先理解流程，再进入代码，降低人工智能实验起步门槛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教师侧：减少环境切换与文件寻找，把课堂时间还给任务探究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课程侧：资源可共享、可修订、可同步，支持教研组共同维护同一门课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74920" cy="256032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核心创新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创新一：HTML—Blockly—Jupyter 连续学习主线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创新二：XEduHub 统一实验能力底座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创新三：面向教师的课程分享与共同维护机制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10469880" cy="1188720"/>
          </a:xfrm>
          <a:prstGeom prst="roundRect">
            <a:avLst/>
          </a:prstGeom>
          <a:solidFill>
            <a:srgbClr val="F4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500" b="1">
                <a:solidFill>
                  <a:srgbClr val="127062"/>
                </a:solidFill>
                <a:latin typeface="Microsoft YaHei"/>
              </a:rPr>
              <a:t>提交前证据位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待补：应用学校、班级数量、学生人数、课时数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待补：国产 AI 工具名称、提示词、对话截图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83452"/>
                </a:solidFill>
                <a:latin typeface="Microsoft YaHei"/>
              </a:rPr>
              <a:t>待补：课堂照片、学生作品、反馈摘录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507992"/>
            <a:ext cx="4572000" cy="1024128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E0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0584"/>
          <a:lstStyle/>
          <a:p>
            <a:pPr algn="ctr"/>
            <a:r>
              <a:rPr sz="1300" b="1">
                <a:solidFill>
                  <a:srgbClr val="CA622A"/>
                </a:solidFill>
                <a:latin typeface="Microsoft YaHei"/>
              </a:rPr>
              <a:t>【待补】必须补齐后再提交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课堂照片：避免学生正脸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国产 AI 工具与提示词截图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83452"/>
                </a:solidFill>
                <a:latin typeface="Microsoft YaHei"/>
              </a:rPr>
              <a:t>真实反馈或学生作品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6A0AA"/>
                </a:solidFill>
                <a:latin typeface="Microsoft YaHei"/>
              </a:rPr>
              <a:t>创AI案例 · XEdu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183452"/>
                </a:solidFill>
                <a:latin typeface="Microsoft YaHei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26080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>
                <a:solidFill>
                  <a:srgbClr val="127062"/>
                </a:solidFill>
                <a:latin typeface="Microsoft YaHei"/>
              </a:rPr>
              <a:t>XEdu Client：面向课堂实验的 Jupyter + Blockly 一体化人工智能学习工具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069080"/>
            <a:ext cx="3063240" cy="457200"/>
          </a:xfrm>
          <a:prstGeom prst="roundRect">
            <a:avLst/>
          </a:prstGeom>
          <a:solidFill>
            <a:srgbClr val="12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创AI案例 · 人工智能学习工具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
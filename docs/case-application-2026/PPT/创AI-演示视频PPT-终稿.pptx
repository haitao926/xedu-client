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56692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0B2F5B"/>
                </a:solidFill>
                <a:latin typeface="Microsoft YaHei"/>
              </a:rPr>
              <a:t>XEdu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8872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>
                <a:solidFill>
                  <a:srgbClr val="1E2933"/>
                </a:solidFill>
                <a:latin typeface="Microsoft YaHei"/>
              </a:rPr>
              <a:t>面向人工智能课堂的一体化实验学习平台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920240" cy="27432"/>
          </a:xfrm>
          <a:prstGeom prst="rect">
            <a:avLst/>
          </a:prstGeom>
          <a:solidFill>
            <a:srgbClr val="2E7D5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6126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5E6A75"/>
                </a:solidFill>
                <a:latin typeface="Microsoft YaHei"/>
              </a:rPr>
              <a:t>创AI案例 · 人工智能学习工具 · 初中人工智能通识课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57800"/>
            <a:ext cx="3657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00" b="0">
                <a:solidFill>
                  <a:srgbClr val="1E2933"/>
                </a:solidFill>
                <a:latin typeface="Microsoft YaHei"/>
              </a:rPr>
              <a:t>王海涛</a:t>
            </a:r>
            <a:br/>
            <a:r>
              <a:rPr sz="1200" b="0">
                <a:solidFill>
                  <a:srgbClr val="1E2933"/>
                </a:solidFill>
                <a:latin typeface="Microsoft YaHei"/>
              </a:rPr>
              <a:t>上海科技大学附属学校</a:t>
            </a:r>
          </a:p>
        </p:txBody>
      </p:sp>
      <p:pic>
        <p:nvPicPr>
          <p:cNvPr id="7" name="Picture 6" descr="figure_system_framework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60220"/>
            <a:ext cx="5120640" cy="2880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870448"/>
            <a:ext cx="5120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图示：平台总体框架概览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01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课堂实验中的工具分散与路径断裂问题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人工智能课堂涉及讲解、积木、代码、素材和结果等多个入口。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工具分散会放大环境配置成本，也会打断学生的任务上下文。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本项目以统一实验入口回应课堂实施稳定性与资源复用问题。</a:t>
            </a:r>
          </a:p>
        </p:txBody>
      </p:sp>
      <p:pic>
        <p:nvPicPr>
          <p:cNvPr id="10" name="Picture 9" descr="figure_1_projec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097280"/>
            <a:ext cx="4892040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图1 课堂痛点与平台回应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02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XEdu Client 的整体框架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桌面端承接学生实验与教师备课两个入口。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HTML、Blockly、Jupyter 形成递进式学习工作台。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Flask 本地服务与 XEduHub 工具箱支撑课程资源运行。</a:t>
            </a:r>
          </a:p>
        </p:txBody>
      </p:sp>
      <p:pic>
        <p:nvPicPr>
          <p:cNvPr id="10" name="Picture 9" descr="figure_system_framework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85899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图2 课程资源、平台支撑层与课堂学习链路的关系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03 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从讲解体验到代码实践的连续学习链路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HTML 讲解页用于建立任务情境和问题感知。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Blockly 用可视化流程降低算法理解门槛。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Jupyter 承接代码阅读、运行和结果复现。</a:t>
            </a:r>
          </a:p>
        </p:txBody>
      </p:sp>
      <p:pic>
        <p:nvPicPr>
          <p:cNvPr id="10" name="Picture 9" descr="figure_3_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097280"/>
            <a:ext cx="4892040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图3 HTML、Blockly、Jupyter 的递进学习路径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04 课程资源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真实课程包的结构化组织方式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9260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5968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证据说明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59689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课程样例来自项目真实目录，而不是另行制作的展示页。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讲解页、Blockly、Notebook、Python、素材和输出共同构成一门课程。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资源包结构使同一课程能够迁移、复用和继续修订。</a:t>
            </a:r>
          </a:p>
        </p:txBody>
      </p:sp>
      <p:pic>
        <p:nvPicPr>
          <p:cNvPr id="10" name="Picture 9" descr="figure_course_pag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432018"/>
            <a:ext cx="3886200" cy="2185987"/>
          </a:xfrm>
          <a:prstGeom prst="rect">
            <a:avLst/>
          </a:prstGeom>
        </p:spPr>
      </p:pic>
      <p:pic>
        <p:nvPicPr>
          <p:cNvPr id="11" name="Picture 10" descr="figure_course_resource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432018"/>
            <a:ext cx="3886200" cy="2185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03320" y="6016752"/>
            <a:ext cx="3886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图4 课程讲解页截图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6016752"/>
            <a:ext cx="3886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图5 课程包文件结构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05 Blockly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可视化流程承接算法理解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学生可先用积木看清“读取、检测、提框、分类、展示”的流程。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Blockly 工作区与 Notebook 指向同一任务和同一素材。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低门槛入口并不替代代码，而是为代码实践搭桥。</a:t>
            </a:r>
          </a:p>
        </p:txBody>
      </p:sp>
      <p:pic>
        <p:nvPicPr>
          <p:cNvPr id="10" name="Picture 9" descr="figure_blockly_workflow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85899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图6 从真实 Blockly XML 提取的任务流程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06 代码与运行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Notebook/Python 与结果图片形成可复验证据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9260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5968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证据说明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59689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Notebook 保留课堂入口：导入、运行、查看 results。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Python 脚本提供离线演示模式，方便录课和无模型环境复现。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运行结果图来自课程目录，可作为视频演示与报告证据。</a:t>
            </a:r>
          </a:p>
        </p:txBody>
      </p:sp>
      <p:pic>
        <p:nvPicPr>
          <p:cNvPr id="10" name="Picture 9" descr="figure_notebook_cod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432018"/>
            <a:ext cx="3886200" cy="2185987"/>
          </a:xfrm>
          <a:prstGeom prst="rect">
            <a:avLst/>
          </a:prstGeom>
        </p:spPr>
      </p:pic>
      <p:pic>
        <p:nvPicPr>
          <p:cNvPr id="11" name="Picture 10" descr="figure_sample_output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432018"/>
            <a:ext cx="3886200" cy="2185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03320" y="6016752"/>
            <a:ext cx="3886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图7 Notebook 与 Python 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6016752"/>
            <a:ext cx="3886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图8 输入、检测与裁剪结果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07 课程共建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多教师围绕同一课程包持续迭代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共享课程仓库支持拉取、课堂使用、上传修订。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课程从单次使用转为可复用、可迭代的教学资产。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适合教研组围绕同一门课共同上课、共同改课。</a:t>
            </a:r>
          </a:p>
        </p:txBody>
      </p:sp>
      <p:pic>
        <p:nvPicPr>
          <p:cNvPr id="10" name="Picture 9" descr="figure_5b_collaborative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84806"/>
            <a:ext cx="7315200" cy="41169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图9 多教师课程共建与版本演进机制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40" b="0">
                <a:solidFill>
                  <a:srgbClr val="5E6A75"/>
                </a:solidFill>
                <a:latin typeface="Microsoft YaHei"/>
              </a:rPr>
              <a:t>应用基础：已围绕人工智能课堂实验开展试用，服务 30 名学生，覆盖 12 节课。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08 AI 辅助开发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生成式人工智能在开发与材料整理中的作用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DeepSeek 用于辅助梳理课堂问题、测试清单与材料表达。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AI 输出由教师团队筛选、修订并结合真实课堂目标落地。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最终成果仍以可运行工具、真实课程资源和应用证据为准。</a:t>
            </a:r>
          </a:p>
        </p:txBody>
      </p:sp>
      <p:pic>
        <p:nvPicPr>
          <p:cNvPr id="10" name="Picture 9" descr="figure_ai_development_proce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85899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图10 AI 辅助需求分析、测试清单和文稿优化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50" b="0">
                <a:solidFill>
                  <a:srgbClr val="5E6A75"/>
                </a:solidFill>
                <a:latin typeface="Microsoft YaHei"/>
              </a:rPr>
              <a:t>09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0B2F5B"/>
                </a:solidFill>
                <a:latin typeface="Microsoft YaHei"/>
              </a:rPr>
              <a:t>应用价值与后续改进方向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41248"/>
            <a:ext cx="11384280" cy="9144"/>
          </a:xfrm>
          <a:prstGeom prst="rect">
            <a:avLst/>
          </a:prstGeom>
          <a:solidFill>
            <a:srgbClr val="D6E4F2"/>
          </a:solidFill>
          <a:ln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194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XEdu Client · 创AI案例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50" b="0">
                <a:solidFill>
                  <a:srgbClr val="5E6A75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461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39"/>
            <a:ext cx="291693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250" b="1">
                <a:solidFill>
                  <a:srgbClr val="1F5AA6"/>
                </a:solidFill>
                <a:latin typeface="Microsoft YaHei"/>
              </a:rPr>
              <a:t>报告要点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19"/>
            <a:ext cx="2916936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学生侧：降低实验入门门槛，增强学习连续性。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教师侧：减少课堂组织成本，提高实施稳定性。</a:t>
            </a:r>
          </a:p>
          <a:p>
            <a:pPr>
              <a:spcAft>
                <a:spcPts val="800"/>
              </a:spcAft>
              <a:defRPr sz="1180">
                <a:solidFill>
                  <a:srgbClr val="1E2933"/>
                </a:solidFill>
                <a:latin typeface="Microsoft YaHei"/>
              </a:defRPr>
            </a:pPr>
            <a:r>
              <a:t>课程侧：沉淀共享资源，支撑持续迭代与推广。</a:t>
            </a:r>
          </a:p>
        </p:txBody>
      </p:sp>
      <p:pic>
        <p:nvPicPr>
          <p:cNvPr id="10" name="Picture 9" descr="figure_application_valu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85899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035040"/>
            <a:ext cx="7315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E6A75"/>
                </a:solidFill>
                <a:latin typeface="SimSun"/>
              </a:rPr>
              <a:t>图11 面向学生、教师和课程建设的应用价值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7680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40" b="0">
                <a:solidFill>
                  <a:srgbClr val="5E6A75"/>
                </a:solidFill>
                <a:latin typeface="Microsoft YaHei"/>
              </a:rPr>
              <a:t>后续将继续补充更多课程样例、课堂反馈和跨学段应用数据。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
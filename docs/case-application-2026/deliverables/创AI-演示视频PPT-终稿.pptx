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3"/>
  </p:notesMasterIdLst>
  <p:sldIdLst>
    <p:sldId id="334" r:id="rId4"/>
    <p:sldId id="300" r:id="rId5"/>
    <p:sldId id="328" r:id="rId6"/>
    <p:sldId id="338" r:id="rId7"/>
    <p:sldId id="339" r:id="rId8"/>
    <p:sldId id="341" r:id="rId9"/>
    <p:sldId id="326" r:id="rId10"/>
    <p:sldId id="331" r:id="rId11"/>
    <p:sldId id="340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85C3"/>
    <a:srgbClr val="FFFFFF"/>
    <a:srgbClr val="3E56A3"/>
    <a:srgbClr val="2C489A"/>
    <a:srgbClr val="2C489B"/>
    <a:srgbClr val="2B4A99"/>
    <a:srgbClr val="4466A2"/>
    <a:srgbClr val="2F5597"/>
    <a:srgbClr val="3E57A3"/>
    <a:srgbClr val="3F5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91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690" y="66"/>
      </p:cViewPr>
      <p:guideLst>
        <p:guide orient="horz" pos="22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49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4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rotWithShape="1">
          <ns1:blip ns2:embed="rId1"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7" name="组合 6"/>
          <ns0:cNvGrpSpPr/>
          <ns0:nvPr/>
        </ns0:nvGrpSpPr>
        <ns0:grpSpPr>
          <ns1:xfrm>
            <ns1:off x="1663065" y="1995170"/>
            <ns1:ext cx="10528300" cy="1452880"/>
            <ns1:chOff x="2619" y="3142"/>
            <ns1:chExt cx="16580" cy="2288"/>
          </ns1:xfrm>
          <ns1:solidFill>
            <ns1:srgbClr val="3C85C3">
              <ns1:alpha val="70000"/>
            </ns1:srgbClr>
          </ns1:solidFill>
        </ns0:grpSpPr>
        <ns0:sp>
          <ns0:nvSpPr>
            <ns0:cNvPr id="3" name="五边形 2"/>
            <ns0:cNvSpPr/>
            <ns0:nvPr/>
          </ns0:nvSpPr>
          <ns0:spPr>
            <ns1:xfrm rot="10800000">
              <ns1:off x="2619" y="3142"/>
              <ns1:ext cx="16095" cy="2288"/>
            </ns1:xfrm>
            <ns1:prstGeom prst="homePlate">
              <ns1:avLst>
                <ns1:gd name="adj" fmla="val 35482"/>
              </ns1:avLst>
            </ns1:prstGeom>
            <ns1:grpFill/>
            <ns1:ln>
              <ns1:noFill/>
            </ns1:ln>
            <ns1:effectLst/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  <ns0:sp>
          <ns0:nvSpPr>
            <ns0:cNvPr id="89" name="五边形 88"/>
            <ns0:cNvSpPr/>
            <ns0:nvPr/>
          </ns0:nvSpPr>
          <ns0:spPr>
            <ns1:xfrm rot="10800000">
              <ns1:off x="18849" y="3142"/>
              <ns1:ext cx="351" cy="2288"/>
            </ns1:xfrm>
            <ns1:prstGeom prst="homePlate">
              <ns1:avLst>
                <ns1:gd name="adj" fmla="val 0"/>
              </ns1:avLst>
            </ns1:prstGeom>
            <ns1:grpFill/>
            <ns1:ln>
              <ns1:noFill/>
            </ns1:ln>
            <ns1:effectLst/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</ns0:grpSp>
      <ns0:sp>
        <ns0:nvSpPr>
          <ns0:cNvPr id="4" name="TextBox 20"/>
          <ns0:cNvSpPr txBox="1"/>
          <ns0:nvPr/>
        </ns0:nvSpPr>
        <ns0:spPr>
          <ns1:xfrm>
            <ns1:off x="3181350" y="2395220"/>
            <ns1:ext cx="8399780" cy="70675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ctr"/>
            <ns1:r>
              <ns1:rPr lang="zh-CN" altLang="en-US" sz="40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</ns1:rPr>
              <ns1:t>XEdu Client：面向人工智能课堂的</ns1:t>
            </ns1:r>
            <ns1:endParaRPr lang="zh-CN" altLang="en-US" sz="40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pPr algn="ctr"/>
            <ns1:r>
              <ns1:rPr lang="zh-CN" altLang="en-US" sz="40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</ns1:rPr>
              <ns1:t>一体化实验学习平台</ns1:t>
            </ns1:r>
            <ns1:endParaRPr lang="zh-CN" altLang="en-US" sz="40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70" name="TextBox 20"/>
          <ns0:cNvSpPr txBox="1"/>
          <ns0:nvPr/>
        </ns0:nvSpPr>
        <ns0:spPr>
          <ns1:xfrm>
            <ns1:off x="4680585" y="4818380"/>
            <ns1:ext cx="6762750" cy="82994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4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[待填写：学校或单位全称]</ns1:t>
            </ns1:r>
            <ns1:endParaRPr lang="zh-CN" altLang="en-US" sz="24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71" name="TextBox 20"/>
          <ns0:cNvSpPr txBox="1"/>
          <ns0:nvPr/>
        </ns0:nvSpPr>
        <ns0:spPr>
          <ns1:xfrm>
            <ns1:off x="4956810" y="4224020"/>
            <ns1:ext cx="7234555" cy="46037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en-US" altLang="zh-CN" sz="24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</ns1:rPr>
              <ns1:t>[待填写：作者姓名]</ns1:t>
            </ns1:r>
            <ns1:endParaRPr lang="en-US" altLang="zh-CN" sz="24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grpSp>
        <ns0:nvGrpSpPr>
          <ns0:cNvPr id="6" name="组合 5"/>
          <ns0:cNvGrpSpPr/>
          <ns0:nvPr/>
        </ns0:nvGrpSpPr>
        <ns0:grpSpPr>
          <ns1:xfrm>
            <ns1:off x="-9525" y="922020"/>
            <ns1:ext cx="9378315" cy="405130"/>
            <ns1:chOff x="-15" y="1452"/>
            <ns1:chExt cx="14769" cy="638"/>
          </ns1:xfrm>
        </ns0:grpSpPr>
        <ns0:sp>
          <ns0:nvSpPr>
            <ns0:cNvPr id="2" name="TextBox 20"/>
            <ns0:cNvSpPr txBox="1"/>
            <ns0:nvPr/>
          </ns0:nvSpPr>
          <ns0:spPr>
            <ns1:xfrm>
              <ns1:off x="546" y="1452"/>
              <ns1:ext cx="14208" cy="628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000" spc="100" dirty="0">
                  <ns1:solidFill>
                    <ns1:schemeClr val="bg1"/>
                  </ns1:solidFill>
                  <ns1:latin typeface="楷体" charset="0"/>
                  <ns1:ea typeface="楷体" charset="0"/>
                  <ns1:cs typeface="楷体" charset="0"/>
                </ns1:rPr>
                <ns1:t>创AI案例类别：人工智能学习工具</ns1:t>
              </ns1:r>
              <ns1:endParaRPr lang="zh-CN" altLang="en-US" sz="2000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  <ns1:sym typeface="+mn-ea"/>
              </ns1:endParaRPr>
            </ns1:p>
          </ns0:txBody>
        </ns0:sp>
        <ns0:cxnSp>
          <ns0:nvCxnSpPr>
            <ns0:cNvPr id="8" name="直接连接符 7"/>
            <ns0:cNvCxnSpPr/>
            <ns0:nvPr/>
          </ns0:nvCxnSpPr>
          <ns0:spPr>
            <ns1:xfrm>
              <ns1:off x="-15" y="2090"/>
              <ns1:ext cx="6427" cy="0"/>
            </ns1:xfrm>
            <ns1:prstGeom prst="line">
              <ns1:avLst/>
            </ns1:prstGeom>
            <ns1:ln w="25400">
              <ns1:solidFill>
                <ns1:srgbClr val="3C85C3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sp>
          <ns0:nvSpPr>
            <ns0:cNvPr id="9" name="五边形 8"/>
            <ns0:cNvSpPr/>
            <ns0:nvPr/>
          </ns0:nvSpPr>
          <ns0:spPr>
            <ns1:xfrm>
              <ns1:off x="0" y="1526"/>
              <ns1:ext cx="513" cy="564"/>
            </ns1:xfrm>
            <ns1:prstGeom prst="homePlate">
              <ns1:avLst>
                <ns1:gd name="adj" fmla="val 28927"/>
              </ns1:avLst>
            </ns1:prstGeom>
            <ns1:solidFill>
              <ns1:srgbClr val="3C85C3"/>
            </ns1:solidFill>
            <ns1:ln>
              <ns1:noFill/>
            </ns1:ln>
            <ns1:effectLst/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</ns0:grp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dpi="0" rotWithShape="1">
          <ns1:blip ns2:embed="rId1"/>
          <ns1:srcRect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TextBox 20"/>
          <ns0:cNvSpPr txBox="1"/>
          <ns0:nvPr/>
        </ns0:nvSpPr>
        <ns0:spPr>
          <ns1:xfrm>
            <ns1:off x="2997835" y="1392555"/>
            <ns1:ext cx="8003540" cy="53657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no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4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</ns1:rPr>
              <ns1:t>面向初中人工智能课堂，聚焦工具切换多、环境配置复杂、学习路径割裂三类问题。</ns1:t>
            </ns1:r>
            <ns1:endParaRPr lang="zh-CN" altLang="en-US" sz="2400" spc="100" dirty="0">
              <ns1:solidFill>
                <ns1:schemeClr val="tx1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r>
              <ns1:rPr lang="zh-CN" altLang="en-US" sz="24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</ns1:rPr>
              <ns1:t>以“目标检测与细粒度分类”任务为主线，统一课程资源、Blockly 和 Jupyter。</ns1:t>
            </ns1:r>
            <ns1:endParaRPr lang="zh-CN" altLang="en-US" sz="2400" spc="100" dirty="0">
              <ns1:solidFill>
                <ns1:schemeClr val="tx1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r>
              <ns1:rPr lang="zh-CN" altLang="en-US" sz="24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</ns1:rPr>
              <ns1:t>帮助学生在同一任务上下文中完成理解、操作、验证与复盘。</ns1:t>
            </ns1:r>
            <ns1:endParaRPr lang="zh-CN" altLang="en-US" sz="2400" spc="100" dirty="0">
              <ns1:solidFill>
                <ns1:schemeClr val="tx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grpSp>
        <ns0:nvGrpSpPr>
          <ns0:cNvPr id="4" name="组合 3"/>
          <ns0:cNvGrpSpPr/>
          <ns0:nvPr/>
        </ns0:nvGrpSpPr>
        <ns0:grpSpPr>
          <ns1:xfrm>
            <ns1:off x="0" y="1392555"/>
            <ns1:ext cx="2567305" cy="4203700"/>
            <ns1:chOff x="0" y="2193"/>
            <ns1:chExt cx="4043" cy="6620"/>
          </ns1:xfrm>
        </ns0:grpSpPr>
        <ns0:sp>
          <ns0:nvSpPr>
            <ns0:cNvPr id="5" name="五边形 4"/>
            <ns0:cNvSpPr/>
            <ns0:nvPr/>
          </ns0:nvSpPr>
          <ns0:spPr>
            <ns1:xfrm>
              <ns1:off x="395" y="2193"/>
              <ns1:ext cx="3648" cy="6620"/>
            </ns1:xfrm>
            <ns1:prstGeom prst="homePlate">
              <ns1:avLst>
                <ns1:gd name="adj" fmla="val 28927"/>
              </ns1:avLst>
            </ns1:prstGeom>
            <ns1:solidFill>
              <ns1:srgbClr val="2F5597"/>
            </ns1:solidFill>
            <ns1:ln>
              <ns1:noFill/>
            </ns1:ln>
            <ns1:effectLst>
              <ns1:outerShdw blurRad="50800" dist="38100" dir="2700000" algn="tl" rotWithShape="0">
                <ns1:prstClr val="black">
                  <ns1:alpha val="40000"/>
                </ns1:prstClr>
              </ns1:outerShdw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  <ns0:sp>
          <ns0:nvSpPr>
            <ns0:cNvPr id="7" name="文本框 6"/>
            <ns0:cNvSpPr txBox="1"/>
            <ns0:nvPr/>
          </ns0:nvSpPr>
          <ns0:spPr>
            <ns1:xfrm>
              <ns1:off x="980" y="3425"/>
              <ns1:ext cx="1663" cy="4021"/>
            </ns1:xfrm>
            <ns1:prstGeom prst="rect">
              <ns1:avLst/>
            </ns1:prstGeom>
            <ns1:noFill/>
          </ns0:spPr>
          <ns0:txBody>
            <ns1:bodyPr wrap="square">
              <ns1:spAutoFit/>
            </ns1:bodyPr>
            <ns1:lstStyle>
              <ns1:defPPr>
                <ns1:defRPr lang="zh-CN"/>
              </ns1:defPPr>
              <ns1:lvl1pPr algn="ctr" fontAlgn="auto">
                <ns1:spcBef>
                  <ns1:spcPts val="0"/>
                </ns1:spcBef>
                <ns1:spcAft>
                  <ns1:spcPts val="0"/>
                </ns1:spcAft>
                <ns1:defRPr sz="3800" b="1" kern="0" spc="-150">
                  <ns1:ln w="1905">
                    <ns1:noFill/>
                  </ns1:ln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defRPr>
              </ns1:lvl1pPr>
            </ns1:lstStyle>
            <ns1:p>
              <ns1:pPr algn="ctr" fontAlgn="auto">
                <ns1:spcBef>
                  <ns1:spcPts val="0"/>
                </ns1:spcBef>
                <ns1:spcAft>
                  <ns1:spcPts val="0"/>
                </ns1:spcAft>
                <ns1:defRPr/>
              </ns1:pPr>
              <ns1:r>
                <ns1:rPr lang="zh-CN" altLang="en-US" sz="4000" dirty="0">
                  <ns1:latin typeface="黑体" panose="02010609060101010101" charset="-122"/>
                  <ns1:ea typeface="黑体" panose="02010609060101010101" charset="-122"/>
                  <ns1:sym typeface="+mn-ea"/>
                </ns1:rPr>
                <ns1:t>案例概述</ns1:t>
              </ns1:r>
              <ns1:endParaRPr lang="zh-CN" altLang="en-US" sz="4000" dirty="0"/>
            </ns1:p>
          </ns0:txBody>
        </ns0:sp>
        <ns0:sp>
          <ns0:nvSpPr>
            <ns0:cNvPr id="41" name="五边形 40"/>
            <ns0:cNvSpPr/>
            <ns0:nvPr/>
          </ns0:nvSpPr>
          <ns0:spPr>
            <ns1:xfrm rot="10800000">
              <ns1:off x="0" y="2193"/>
              <ns1:ext cx="306" cy="6620"/>
            </ns1:xfrm>
            <ns1:prstGeom prst="homePlate">
              <ns1:avLst>
                <ns1:gd name="adj" fmla="val 0"/>
              </ns1:avLst>
            </ns1:prstGeom>
            <ns1:solidFill>
              <ns1:srgbClr val="3E56A3"/>
            </ns1:solidFill>
            <ns1:ln>
              <ns1:noFill/>
            </ns1:ln>
            <ns1:effectLst/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</ns0:grp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dpi="0" rotWithShape="1">
          <ns1:blip ns2:embed="rId1"/>
          <ns1:srcRect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4" name="组合 3"/>
          <ns0:cNvGrpSpPr/>
          <ns0:nvPr/>
        </ns0:nvGrpSpPr>
        <ns0:grpSpPr>
          <ns1:xfrm>
            <ns1:off x="0" y="1392555"/>
            <ns1:ext cx="2567305" cy="4203700"/>
            <ns1:chOff x="0" y="2193"/>
            <ns1:chExt cx="4043" cy="6620"/>
          </ns1:xfrm>
        </ns0:grpSpPr>
        <ns0:sp>
          <ns0:nvSpPr>
            <ns0:cNvPr id="5" name="五边形 4"/>
            <ns0:cNvSpPr/>
            <ns0:nvPr/>
          </ns0:nvSpPr>
          <ns0:spPr>
            <ns1:xfrm>
              <ns1:off x="395" y="2193"/>
              <ns1:ext cx="3648" cy="6620"/>
            </ns1:xfrm>
            <ns1:prstGeom prst="homePlate">
              <ns1:avLst>
                <ns1:gd name="adj" fmla="val 28927"/>
              </ns1:avLst>
            </ns1:prstGeom>
            <ns1:solidFill>
              <ns1:srgbClr val="2F5597"/>
            </ns1:solidFill>
            <ns1:ln>
              <ns1:noFill/>
            </ns1:ln>
            <ns1:effectLst>
              <ns1:outerShdw blurRad="50800" dist="38100" dir="2700000" algn="tl" rotWithShape="0">
                <ns1:prstClr val="black">
                  <ns1:alpha val="40000"/>
                </ns1:prstClr>
              </ns1:outerShdw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  <ns0:sp>
          <ns0:nvSpPr>
            <ns0:cNvPr id="7" name="文本框 6"/>
            <ns0:cNvSpPr txBox="1"/>
            <ns0:nvPr/>
          </ns0:nvSpPr>
          <ns0:spPr>
            <ns1:xfrm>
              <ns1:off x="980" y="3388"/>
              <ns1:ext cx="1663" cy="4021"/>
            </ns1:xfrm>
            <ns1:prstGeom prst="rect">
              <ns1:avLst/>
            </ns1:prstGeom>
            <ns1:noFill/>
          </ns0:spPr>
          <ns0:txBody>
            <ns1:bodyPr wrap="square">
              <ns1:spAutoFit/>
            </ns1:bodyPr>
            <ns1:lstStyle>
              <ns1:defPPr>
                <ns1:defRPr lang="zh-CN"/>
              </ns1:defPPr>
              <ns1:lvl1pPr algn="ctr" fontAlgn="auto">
                <ns1:spcBef>
                  <ns1:spcPts val="0"/>
                </ns1:spcBef>
                <ns1:spcAft>
                  <ns1:spcPts val="0"/>
                </ns1:spcAft>
                <ns1:defRPr sz="3800" b="1" kern="0" spc="-150">
                  <ns1:ln w="1905">
                    <ns1:noFill/>
                  </ns1:ln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defRPr>
              </ns1:lvl1pPr>
            </ns1:lstStyle>
            <ns1:p>
              <ns1:r>
                <ns1:rPr lang="zh-CN" altLang="en-US" sz="4000" dirty="0"/>
                <ns1:t>实现功能</ns1:t>
              </ns1:r>
              <ns1:endParaRPr lang="zh-CN" altLang="en-US" sz="4000" dirty="0"/>
            </ns1:p>
          </ns0:txBody>
        </ns0:sp>
        <ns0:sp>
          <ns0:nvSpPr>
            <ns0:cNvPr id="41" name="五边形 40"/>
            <ns0:cNvSpPr/>
            <ns0:nvPr/>
          </ns0:nvSpPr>
          <ns0:spPr>
            <ns1:xfrm rot="10800000">
              <ns1:off x="0" y="2193"/>
              <ns1:ext cx="306" cy="6620"/>
            </ns1:xfrm>
            <ns1:prstGeom prst="homePlate">
              <ns1:avLst>
                <ns1:gd name="adj" fmla="val 0"/>
              </ns1:avLst>
            </ns1:prstGeom>
            <ns1:solidFill>
              <ns1:srgbClr val="3E56A3"/>
            </ns1:solidFill>
            <ns1:ln>
              <ns1:noFill/>
            </ns1:ln>
            <ns1:effectLst/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</ns0:grpSp>
      <ns0:sp>
        <ns0:nvSpPr>
          <ns0:cNvPr id="36" name="TextBox 20"/>
          <ns0:cNvSpPr txBox="1"/>
          <ns0:nvPr>
            <ns0:custDataLst>
              <ns0:tags ns2:id="rId2"/>
            </ns0:custDataLst>
          </ns0:nvPr>
        </ns0:nvSpPr>
        <ns0:spPr>
          <ns1:xfrm>
            <ns1:off x="4656657" y="1520823"/>
            <ns1:ext cx="6974772" cy="49149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课程资源组织</ns1:t>
            </ns1:r>
            <ns1:endParaRPr lang="en-US" altLang="zh-CN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讲解页、Notebook、Python、图片素材统一管理</ns1:t>
            </ns1:r>
            <ns1:endParaRPr lang="en-US" altLang="zh-CN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37" name="TextBox 20"/>
          <ns0:cNvSpPr txBox="1"/>
          <ns0:nvPr>
            <ns0:custDataLst>
              <ns0:tags ns2:id="rId3"/>
            </ns0:custDataLst>
          </ns0:nvPr>
        </ns0:nvSpPr>
        <ns0:spPr>
          <ns1:xfrm>
            <ns1:off x="4656657" y="2659512"/>
            <ns1:ext cx="6974772" cy="89154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Blockly 可视化理解</ns1:t>
            </ns1:r>
            <ns1:endParaRPr lang="en-US" altLang="zh-CN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先看懂“检测-裁剪-分类”流程</ns1:t>
            </ns1:r>
            <ns1:endParaRPr lang="en-US" altLang="zh-CN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38" name="TextBox 20"/>
          <ns0:cNvSpPr txBox="1"/>
          <ns0:nvPr>
            <ns0:custDataLst>
              <ns0:tags ns2:id="rId4"/>
            </ns0:custDataLst>
          </ns0:nvPr>
        </ns0:nvSpPr>
        <ns0:spPr>
          <ns1:xfrm>
            <ns1:off x="4656657" y="3798201"/>
            <ns1:ext cx="6974772" cy="49149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Jupyter 代码实践</ns1:t>
            </ns1:r>
            <ns1:endParaRPr lang="zh-CN" altLang="en-US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把流程理解迁移到代码表达</ns1:t>
            </ns1:r>
            <ns1:endParaRPr lang="zh-CN" altLang="en-US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39" name="TextBox 20"/>
          <ns0:cNvSpPr txBox="1"/>
          <ns0:nvPr>
            <ns0:custDataLst>
              <ns0:tags ns2:id="rId5"/>
            </ns0:custDataLst>
          </ns0:nvPr>
        </ns0:nvSpPr>
        <ns0:spPr>
          <ns1:xfrm>
            <ns1:off x="4656657" y="4965464"/>
            <ns1:ext cx="6974772" cy="129159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本地课堂运行支持</ns1:t>
            </ns1:r>
            <ns1:endParaRPr lang="zh-CN" altLang="en-US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降低课堂环境依赖，适合机房部署</ns1:t>
            </ns1:r>
            <ns1:endParaRPr lang="zh-CN" altLang="en-US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grpSp>
        <ns0:nvGrpSpPr>
          <ns0:cNvPr id="40" name="组合 39"/>
          <ns0:cNvGrpSpPr/>
          <ns0:nvPr>
            <ns0:custDataLst>
              <ns0:tags ns2:id="rId6"/>
            </ns0:custDataLst>
          </ns0:nvPr>
        </ns0:nvGrpSpPr>
        <ns0:grpSpPr>
          <ns1:xfrm>
            <ns1:off x="3532085" y="1370965"/>
            <ns1:ext cx="682625" cy="683260"/>
            <ns1:chOff x="3162416" y="1535627"/>
            <ns1:chExt cx="923809" cy="924143"/>
          </ns1:xfrm>
        </ns0:grpSpPr>
        <ns0:grpSp>
          <ns0:nvGrpSpPr>
            <ns0:cNvPr id="42" name="组合 41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44" name="组合 43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46" name="同心圆 45"/>
                <ns0:cNvSpPr/>
                <ns0:nvPr>
                  <ns0:custDataLst>
                    <ns0:tags ns2:id="rId7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7" name="椭圆 46"/>
                <ns0:cNvSpPr/>
                <ns0:nvPr>
                  <ns0:custDataLst>
                    <ns0:tags ns2:id="rId8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45" name="椭圆 44"/>
              <ns0:cNvSpPr/>
              <ns0:nvPr>
                <ns0:custDataLst>
                  <ns0:tags ns2:id="rId9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3E56A3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43" name="TextBox 20"/>
            <ns0:cNvSpPr txBox="1"/>
            <ns0:nvPr>
              <ns0:custDataLst>
                <ns0:tags ns2:id="rId10"/>
              </ns0:custDataLst>
            </ns0:nvPr>
          </ns0:nvSpPr>
          <ns0:spPr>
            <ns1:xfrm>
              <ns1:off x="3299266" y="1703540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一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48" name="组合 47"/>
          <ns0:cNvGrpSpPr/>
          <ns0:nvPr>
            <ns0:custDataLst>
              <ns0:tags ns2:id="rId11"/>
            </ns0:custDataLst>
          </ns0:nvPr>
        </ns0:nvGrpSpPr>
        <ns0:grpSpPr>
          <ns1:xfrm>
            <ns1:off x="3532085" y="2524125"/>
            <ns1:ext cx="682625" cy="683260"/>
            <ns1:chOff x="3162416" y="1535627"/>
            <ns1:chExt cx="923809" cy="924143"/>
          </ns1:xfrm>
        </ns0:grpSpPr>
        <ns0:grpSp>
          <ns0:nvGrpSpPr>
            <ns0:cNvPr id="49" name="组合 48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51" name="组合 50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53" name="同心圆 52"/>
                <ns0:cNvSpPr/>
                <ns0:nvPr>
                  <ns0:custDataLst>
                    <ns0:tags ns2:id="rId12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54" name="椭圆 53"/>
                <ns0:cNvSpPr/>
                <ns0:nvPr>
                  <ns0:custDataLst>
                    <ns0:tags ns2:id="rId13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52" name="椭圆 51"/>
              <ns0:cNvSpPr/>
              <ns0:nvPr>
                <ns0:custDataLst>
                  <ns0:tags ns2:id="rId14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0070C0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50" name="TextBox 20"/>
            <ns0:cNvSpPr txBox="1"/>
            <ns0:nvPr>
              <ns0:custDataLst>
                <ns0:tags ns2:id="rId15"/>
              </ns0:custDataLst>
            </ns0:nvPr>
          </ns0:nvSpPr>
          <ns0:spPr>
            <ns1:xfrm>
              <ns1:off x="3286376" y="1677774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二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55" name="组合 54"/>
          <ns0:cNvGrpSpPr/>
          <ns0:nvPr>
            <ns0:custDataLst>
              <ns0:tags ns2:id="rId16"/>
            </ns0:custDataLst>
          </ns0:nvPr>
        </ns0:nvGrpSpPr>
        <ns0:grpSpPr>
          <ns1:xfrm>
            <ns1:off x="3532085" y="3676650"/>
            <ns1:ext cx="682625" cy="683260"/>
            <ns1:chOff x="3162416" y="1535627"/>
            <ns1:chExt cx="923809" cy="924143"/>
          </ns1:xfrm>
        </ns0:grpSpPr>
        <ns0:grpSp>
          <ns0:nvGrpSpPr>
            <ns0:cNvPr id="56" name="组合 55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58" name="组合 57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60" name="同心圆 59"/>
                <ns0:cNvSpPr/>
                <ns0:nvPr>
                  <ns0:custDataLst>
                    <ns0:tags ns2:id="rId17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61" name="椭圆 60"/>
                <ns0:cNvSpPr/>
                <ns0:nvPr>
                  <ns0:custDataLst>
                    <ns0:tags ns2:id="rId18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59" name="椭圆 58"/>
              <ns0:cNvSpPr/>
              <ns0:nvPr>
                <ns0:custDataLst>
                  <ns0:tags ns2:id="rId19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3E56A3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57" name="TextBox 20"/>
            <ns0:cNvSpPr txBox="1"/>
            <ns0:nvPr>
              <ns0:custDataLst>
                <ns0:tags ns2:id="rId20"/>
              </ns0:custDataLst>
            </ns0:nvPr>
          </ns0:nvSpPr>
          <ns0:spPr>
            <ns1:xfrm>
              <ns1:off x="3299266" y="1677774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三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62" name="组合 61"/>
          <ns0:cNvGrpSpPr/>
          <ns0:nvPr>
            <ns0:custDataLst>
              <ns0:tags ns2:id="rId21"/>
            </ns0:custDataLst>
          </ns0:nvPr>
        </ns0:nvGrpSpPr>
        <ns0:grpSpPr>
          <ns1:xfrm>
            <ns1:off x="3532085" y="4829175"/>
            <ns1:ext cx="682625" cy="683260"/>
            <ns1:chOff x="3162416" y="1535627"/>
            <ns1:chExt cx="923809" cy="924143"/>
          </ns1:xfrm>
        </ns0:grpSpPr>
        <ns0:grpSp>
          <ns0:nvGrpSpPr>
            <ns0:cNvPr id="63" name="组合 62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66" name="组合 65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68" name="同心圆 67"/>
                <ns0:cNvSpPr/>
                <ns0:nvPr>
                  <ns0:custDataLst>
                    <ns0:tags ns2:id="rId22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71" name="椭圆 70"/>
                <ns0:cNvSpPr/>
                <ns0:nvPr>
                  <ns0:custDataLst>
                    <ns0:tags ns2:id="rId23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67" name="椭圆 66"/>
              <ns0:cNvSpPr/>
              <ns0:nvPr>
                <ns0:custDataLst>
                  <ns0:tags ns2:id="rId24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0070C0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65" name="TextBox 20"/>
            <ns0:cNvSpPr txBox="1"/>
            <ns0:nvPr>
              <ns0:custDataLst>
                <ns0:tags ns2:id="rId25"/>
              </ns0:custDataLst>
            </ns0:nvPr>
          </ns0:nvSpPr>
          <ns0:spPr>
            <ns1:xfrm>
              <ns1:off x="3286376" y="1677774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四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rotWithShape="1">
          <ns1:blip ns2:embed="rId1"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TextBox 20"/>
          <ns0:cNvSpPr txBox="1"/>
          <ns0:nvPr/>
        </ns0:nvSpPr>
        <ns0:spPr>
          <ns1:xfrm>
            <ns1:off x="560441" y="278788"/>
            <ns1:ext cx="9962225" cy="55308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30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</ns1:rPr>
              <ns1:t>一、课程资源与课堂接入</ns1:t>
            </ns1:r>
            <ns1:endParaRPr lang="zh-CN" altLang="en-US" sz="30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25" name="五边形 24"/>
          <ns0:cNvSpPr/>
          <ns0:nvPr/>
        </ns0:nvSpPr>
        <ns0:spPr>
          <ns1:xfrm rot="10800000">
            <ns1:off x="9714230" y="0"/>
            <ns1:ext cx="2477770" cy="982345"/>
          </ns1:xfrm>
          <ns1:prstGeom prst="homePlate">
            <ns1:avLst>
              <ns1:gd name="adj" fmla="val 35482"/>
            </ns1:avLst>
          </ns1:prstGeom>
          <ns1:solidFill>
            <ns1:schemeClr val="bg1">
              <ns1:alpha val="90000"/>
            </ns1:schemeClr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ctr"/>
            <ns1:endParaRPr lang="zh-CN" altLang="en-US">
              <ns1:ea typeface="微软雅黑" panose="020B0503020204020204" pitchFamily="34" charset="-122"/>
            </ns1:endParaRPr>
          </ns1:p>
        </ns0:txBody>
      </ns0:sp>
      <ns0:sp>
        <ns0:nvSpPr>
          <ns0:cNvPr id="26" name="TextBox 20"/>
          <ns0:cNvSpPr txBox="1"/>
          <ns0:nvPr/>
        </ns0:nvSpPr>
        <ns0:spPr>
          <ns1:xfrm>
            <ns1:off x="10384790" y="278765"/>
            <ns1:ext cx="1859915" cy="46037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实现功能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</ns0:txBody>
      </ns0:sp>
      <ns0:sp>
        <ns0:nvSpPr>
          <ns0:cNvPr id="3" name="TextBox 20"/>
          <ns0:cNvSpPr txBox="1"/>
          <ns0:nvPr/>
        </ns0:nvSpPr>
        <ns0:spPr>
          <ns1:xfrm>
            <ns1:off x="702310" y="1519555"/>
            <ns1:ext cx="10556875" cy="58483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no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1. 教师按课程文件夹组织讲解页、Notebook、Python 文件、Blockly 工作区和实验素材。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2. 学生进入课堂后可直接回到当前课节对应实验，减少找文件和重新配置的时间。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3. 课程资源与课堂接入统一后，课堂时间能更集中地用于讲解与练习。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rotWithShape="1">
          <ns1:blip ns2:embed="rId1"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TextBox 20"/>
          <ns0:cNvSpPr txBox="1"/>
          <ns0:nvPr/>
        </ns0:nvSpPr>
        <ns0:spPr>
          <ns1:xfrm>
            <ns1:off x="560441" y="278788"/>
            <ns1:ext cx="9962225" cy="55308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30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</ns1:rPr>
              <ns1:t>二、从 Blockly 到 Jupyter 的学习闭环</ns1:t>
            </ns1:r>
            <ns1:endParaRPr lang="zh-CN" altLang="en-US" sz="30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25" name="五边形 24"/>
          <ns0:cNvSpPr/>
          <ns0:nvPr/>
        </ns0:nvSpPr>
        <ns0:spPr>
          <ns1:xfrm rot="10800000">
            <ns1:off x="9714230" y="0"/>
            <ns1:ext cx="2477770" cy="982345"/>
          </ns1:xfrm>
          <ns1:prstGeom prst="homePlate">
            <ns1:avLst>
              <ns1:gd name="adj" fmla="val 35482"/>
            </ns1:avLst>
          </ns1:prstGeom>
          <ns1:solidFill>
            <ns1:schemeClr val="bg1">
              <ns1:alpha val="90000"/>
            </ns1:schemeClr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ctr"/>
            <ns1:endParaRPr lang="zh-CN" altLang="en-US">
              <ns1:ea typeface="微软雅黑" panose="020B0503020204020204" pitchFamily="34" charset="-122"/>
            </ns1:endParaRPr>
          </ns1:p>
        </ns0:txBody>
      </ns0:sp>
      <ns0:sp>
        <ns0:nvSpPr>
          <ns0:cNvPr id="3" name="TextBox 20"/>
          <ns0:cNvSpPr txBox="1"/>
          <ns0:nvPr/>
        </ns0:nvSpPr>
        <ns0:spPr>
          <ns1:xfrm>
            <ns1:off x="702310" y="1519555"/>
            <ns1:ext cx="10556875" cy="58483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no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实现功能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2" name="TextBox 20"/>
          <ns0:cNvSpPr txBox="1"/>
          <ns0:nvPr/>
        </ns0:nvSpPr>
        <ns0:spPr>
          <ns1:xfrm>
            <ns1:off x="10384790" y="278765"/>
            <ns1:ext cx="1859915" cy="46037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1. 学生先在 Blockly 中观察任务流程：目标检测、裁剪区域、细粒度分类。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2. 再进入 Jupyter 阅读和运行对应代码，把可视化理解迁移到代码实践。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3. 同一任务上下文贯穿始终，降低“看流程到写代码”的断层感。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</ns0:txBody>
      </ns0: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</ns0:sld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dpi="0" rotWithShape="1">
          <ns1:blip ns2:embed="rId1"/>
          <ns1:srcRect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4" name="组合 3"/>
          <ns0:cNvGrpSpPr/>
          <ns0:nvPr/>
        </ns0:nvGrpSpPr>
        <ns0:grpSpPr>
          <ns1:xfrm>
            <ns1:off x="0" y="1392555"/>
            <ns1:ext cx="2567305" cy="4203700"/>
            <ns1:chOff x="0" y="2193"/>
            <ns1:chExt cx="4043" cy="6620"/>
          </ns1:xfrm>
        </ns0:grpSpPr>
        <ns0:sp>
          <ns0:nvSpPr>
            <ns0:cNvPr id="5" name="五边形 4"/>
            <ns0:cNvSpPr/>
            <ns0:nvPr/>
          </ns0:nvSpPr>
          <ns0:spPr>
            <ns1:xfrm>
              <ns1:off x="395" y="2193"/>
              <ns1:ext cx="3648" cy="6620"/>
            </ns1:xfrm>
            <ns1:prstGeom prst="homePlate">
              <ns1:avLst>
                <ns1:gd name="adj" fmla="val 28927"/>
              </ns1:avLst>
            </ns1:prstGeom>
            <ns1:solidFill>
              <ns1:srgbClr val="2F5597"/>
            </ns1:solidFill>
            <ns1:ln>
              <ns1:noFill/>
            </ns1:ln>
            <ns1:effectLst>
              <ns1:outerShdw blurRad="50800" dist="38100" dir="2700000" algn="tl" rotWithShape="0">
                <ns1:prstClr val="black">
                  <ns1:alpha val="40000"/>
                </ns1:prstClr>
              </ns1:outerShdw>
            </ns1:effectLst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endParaRPr lang="zh-CN" altLang="en-US">
                <ns1:ea typeface="微软雅黑" panose="020B0503020204020204" pitchFamily="34" charset="-122"/>
              </ns1:endParaRPr>
            </ns1:p>
          </ns0:txBody>
        </ns0:sp>
        <ns0:sp>
          <ns0:nvSpPr>
            <ns0:cNvPr id="7" name="文本框 6"/>
            <ns0:cNvSpPr txBox="1"/>
            <ns0:nvPr/>
          </ns0:nvSpPr>
          <ns0:spPr>
            <ns1:xfrm>
              <ns1:off x="980" y="3377"/>
              <ns1:ext cx="1663" cy="4021"/>
            </ns1:xfrm>
            <ns1:prstGeom prst="rect">
              <ns1:avLst/>
            </ns1:prstGeom>
            <ns1:noFill/>
          </ns0:spPr>
          <ns0:txBody>
            <ns1:bodyPr wrap="square">
              <ns1:spAutoFit/>
            </ns1:bodyPr>
            <ns1:lstStyle>
              <ns1:defPPr>
                <ns1:defRPr lang="zh-CN"/>
              </ns1:defPPr>
              <ns1:lvl1pPr algn="ctr" fontAlgn="auto">
                <ns1:spcBef>
                  <ns1:spcPts val="0"/>
                </ns1:spcBef>
                <ns1:spcAft>
                  <ns1:spcPts val="0"/>
                </ns1:spcAft>
                <ns1:defRPr sz="3800" b="1" kern="0" spc="-150">
                  <ns1:ln w="1905">
                    <ns1:noFill/>
                  </ns1:ln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defRPr>
              </ns1:lvl1pPr>
            </ns1:lstStyle>
            <ns1:p>
              <ns1:r>
                <ns1:rPr lang="zh-CN" altLang="en-US" sz="4000" dirty="0"/>
                <ns1:t>应用情况</ns1:t>
              </ns1:r>
              <ns1:endParaRPr lang="zh-CN" altLang="en-US" sz="4000" dirty="0"/>
            </ns1:p>
          </ns0:txBody>
        </ns0:sp>
        <ns0:sp>
          <ns0:nvSpPr>
            <ns0:cNvPr id="41" name="五边形 40"/>
            <ns0:cNvSpPr/>
            <ns0:nvPr/>
          </ns0:nvSpPr>
          <ns0:spPr>
            <ns1:xfrm rot="10800000">
              <ns1:off x="0" y="2193"/>
              <ns1:ext cx="306" cy="6620"/>
            </ns1:xfrm>
            <ns1:prstGeom prst="homePlate">
              <ns1:avLst>
                <ns1:gd name="adj" fmla="val 0"/>
              </ns1:avLst>
            </ns1:prstGeom>
            <ns1:solidFill>
              <ns1:srgbClr val="3E56A3"/>
            </ns1:solidFill>
            <ns1:ln>
              <ns1:noFill/>
            </ns1:ln>
            <ns1:effectLst/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lt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pPr algn="ctr"/>
              <ns1:r>
                <ns1:t>应用情况</ns1:t>
              </ns1:r>
              <ns1:endParaRPr lang="zh-CN" altLang="en-US">
                <ns1:ea typeface="微软雅黑" panose="020B0503020204020204" pitchFamily="34" charset="-122"/>
              </ns1:endParaRPr>
            </ns1:p>
          </ns0:txBody>
        </ns0:sp>
      </ns0:grpSp>
      <ns0:sp>
        <ns0:nvSpPr>
          <ns0:cNvPr id="36" name="TextBox 20"/>
          <ns0:cNvSpPr txBox="1"/>
          <ns0:nvPr>
            <ns0:custDataLst>
              <ns0:tags ns2:id="rId2"/>
            </ns0:custDataLst>
          </ns0:nvPr>
        </ns0:nvSpPr>
        <ns0:spPr>
          <ns1:xfrm>
            <ns1:off x="4656657" y="1520823"/>
            <ns1:ext cx="6974772" cy="49149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适用场景</ns1:t>
            </ns1:r>
            <ns1:endParaRPr lang="en-US" altLang="zh-CN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初中通识课、项目式学习课、校本课程</ns1:t>
            </ns1:r>
            <ns1:endParaRPr lang="en-US" altLang="zh-CN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37" name="TextBox 20"/>
          <ns0:cNvSpPr txBox="1"/>
          <ns0:nvPr>
            <ns0:custDataLst>
              <ns0:tags ns2:id="rId3"/>
            </ns0:custDataLst>
          </ns0:nvPr>
        </ns0:nvSpPr>
        <ns0:spPr>
          <ns1:xfrm>
            <ns1:off x="4656657" y="2659512"/>
            <ns1:ext cx="6974772" cy="89154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示例任务</ns1:t>
            </ns1:r>
            <ns1:endParaRPr lang="en-US" altLang="zh-CN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目标检测与细粒度分类、课堂实验连贯演示</ns1:t>
            </ns1:r>
            <ns1:endParaRPr lang="en-US" altLang="zh-CN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38" name="TextBox 20"/>
          <ns0:cNvSpPr txBox="1"/>
          <ns0:nvPr>
            <ns0:custDataLst>
              <ns0:tags ns2:id="rId4"/>
            </ns0:custDataLst>
          </ns0:nvPr>
        </ns0:nvSpPr>
        <ns0:spPr>
          <ns1:xfrm>
            <ns1:off x="4656657" y="3798201"/>
            <ns1:ext cx="6974772" cy="49149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课堂收益</ns1:t>
            </ns1:r>
            <ns1:endParaRPr lang="zh-CN" altLang="en-US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降低门槛、增强连续性、提高复现性</ns1:t>
            </ns1:r>
            <ns1:endParaRPr lang="zh-CN" altLang="en-US" sz="2600" b="1" spc="100" dirty="0">
              <ns1:solidFill>
                <ns1:srgbClr val="0070C0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39" name="TextBox 20"/>
          <ns0:cNvSpPr txBox="1"/>
          <ns0:nvPr>
            <ns0:custDataLst>
              <ns0:tags ns2:id="rId5"/>
            </ns0:custDataLst>
          </ns0:nvPr>
        </ns0:nvSpPr>
        <ns0:spPr>
          <ns1:xfrm>
            <ns1:off x="4656657" y="4965464"/>
            <ns1:ext cx="6974772" cy="1291590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推广条件</ns1:t>
            </ns1:r>
            <ns1:endParaRPr lang="zh-CN" altLang="en-US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  <ns1:p>
            <ns1:pPr algn="l">
              <ns1:buClrTx/>
              <ns1:buSzTx/>
              <ns1:buFontTx/>
            </ns1:pPr>
            <ns1:r>
              <ns1:rPr lang="zh-CN" altLang="en-US" sz="2600" b="1" spc="100" dirty="0">
                <ns1:solidFill>
                  <ns1:srgbClr val="0070C0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本地部署、课程资源包、低网络依赖</ns1:t>
            </ns1:r>
            <ns1:endParaRPr lang="zh-CN" altLang="en-US" sz="2600" b="1" spc="100" dirty="0">
              <ns1:solidFill>
                <ns1:srgbClr val="0070C0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grpSp>
        <ns0:nvGrpSpPr>
          <ns0:cNvPr id="40" name="组合 39"/>
          <ns0:cNvGrpSpPr/>
          <ns0:nvPr>
            <ns0:custDataLst>
              <ns0:tags ns2:id="rId6"/>
            </ns0:custDataLst>
          </ns0:nvPr>
        </ns0:nvGrpSpPr>
        <ns0:grpSpPr>
          <ns1:xfrm>
            <ns1:off x="3532085" y="1370965"/>
            <ns1:ext cx="682625" cy="683260"/>
            <ns1:chOff x="3162416" y="1535627"/>
            <ns1:chExt cx="923809" cy="924143"/>
          </ns1:xfrm>
        </ns0:grpSpPr>
        <ns0:grpSp>
          <ns0:nvGrpSpPr>
            <ns0:cNvPr id="42" name="组合 41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44" name="组合 43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46" name="同心圆 45"/>
                <ns0:cNvSpPr/>
                <ns0:nvPr>
                  <ns0:custDataLst>
                    <ns0:tags ns2:id="rId7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47" name="椭圆 46"/>
                <ns0:cNvSpPr/>
                <ns0:nvPr>
                  <ns0:custDataLst>
                    <ns0:tags ns2:id="rId8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45" name="椭圆 44"/>
              <ns0:cNvSpPr/>
              <ns0:nvPr>
                <ns0:custDataLst>
                  <ns0:tags ns2:id="rId9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3E56A3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43" name="TextBox 20"/>
            <ns0:cNvSpPr txBox="1"/>
            <ns0:nvPr>
              <ns0:custDataLst>
                <ns0:tags ns2:id="rId10"/>
              </ns0:custDataLst>
            </ns0:nvPr>
          </ns0:nvSpPr>
          <ns0:spPr>
            <ns1:xfrm>
              <ns1:off x="3299266" y="1703540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一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48" name="组合 47"/>
          <ns0:cNvGrpSpPr/>
          <ns0:nvPr>
            <ns0:custDataLst>
              <ns0:tags ns2:id="rId11"/>
            </ns0:custDataLst>
          </ns0:nvPr>
        </ns0:nvGrpSpPr>
        <ns0:grpSpPr>
          <ns1:xfrm>
            <ns1:off x="3532085" y="2524125"/>
            <ns1:ext cx="682625" cy="683260"/>
            <ns1:chOff x="3162416" y="1535627"/>
            <ns1:chExt cx="923809" cy="924143"/>
          </ns1:xfrm>
        </ns0:grpSpPr>
        <ns0:grpSp>
          <ns0:nvGrpSpPr>
            <ns0:cNvPr id="49" name="组合 48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51" name="组合 50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53" name="同心圆 52"/>
                <ns0:cNvSpPr/>
                <ns0:nvPr>
                  <ns0:custDataLst>
                    <ns0:tags ns2:id="rId12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54" name="椭圆 53"/>
                <ns0:cNvSpPr/>
                <ns0:nvPr>
                  <ns0:custDataLst>
                    <ns0:tags ns2:id="rId13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52" name="椭圆 51"/>
              <ns0:cNvSpPr/>
              <ns0:nvPr>
                <ns0:custDataLst>
                  <ns0:tags ns2:id="rId14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0070C0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50" name="TextBox 20"/>
            <ns0:cNvSpPr txBox="1"/>
            <ns0:nvPr>
              <ns0:custDataLst>
                <ns0:tags ns2:id="rId15"/>
              </ns0:custDataLst>
            </ns0:nvPr>
          </ns0:nvSpPr>
          <ns0:spPr>
            <ns1:xfrm>
              <ns1:off x="3286376" y="1677774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二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55" name="组合 54"/>
          <ns0:cNvGrpSpPr/>
          <ns0:nvPr>
            <ns0:custDataLst>
              <ns0:tags ns2:id="rId16"/>
            </ns0:custDataLst>
          </ns0:nvPr>
        </ns0:nvGrpSpPr>
        <ns0:grpSpPr>
          <ns1:xfrm>
            <ns1:off x="3532085" y="3676650"/>
            <ns1:ext cx="682625" cy="683260"/>
            <ns1:chOff x="3162416" y="1535627"/>
            <ns1:chExt cx="923809" cy="924143"/>
          </ns1:xfrm>
        </ns0:grpSpPr>
        <ns0:grpSp>
          <ns0:nvGrpSpPr>
            <ns0:cNvPr id="56" name="组合 55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58" name="组合 57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60" name="同心圆 59"/>
                <ns0:cNvSpPr/>
                <ns0:nvPr>
                  <ns0:custDataLst>
                    <ns0:tags ns2:id="rId17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61" name="椭圆 60"/>
                <ns0:cNvSpPr/>
                <ns0:nvPr>
                  <ns0:custDataLst>
                    <ns0:tags ns2:id="rId18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59" name="椭圆 58"/>
              <ns0:cNvSpPr/>
              <ns0:nvPr>
                <ns0:custDataLst>
                  <ns0:tags ns2:id="rId19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3E56A3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57" name="TextBox 20"/>
            <ns0:cNvSpPr txBox="1"/>
            <ns0:nvPr>
              <ns0:custDataLst>
                <ns0:tags ns2:id="rId20"/>
              </ns0:custDataLst>
            </ns0:nvPr>
          </ns0:nvSpPr>
          <ns0:spPr>
            <ns1:xfrm>
              <ns1:off x="3299266" y="1677774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三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  <ns0:grpSp>
        <ns0:nvGrpSpPr>
          <ns0:cNvPr id="62" name="组合 61"/>
          <ns0:cNvGrpSpPr/>
          <ns0:nvPr>
            <ns0:custDataLst>
              <ns0:tags ns2:id="rId21"/>
            </ns0:custDataLst>
          </ns0:nvPr>
        </ns0:nvGrpSpPr>
        <ns0:grpSpPr>
          <ns1:xfrm>
            <ns1:off x="3532085" y="4829175"/>
            <ns1:ext cx="682625" cy="683260"/>
            <ns1:chOff x="3162416" y="1535627"/>
            <ns1:chExt cx="923809" cy="924143"/>
          </ns1:xfrm>
        </ns0:grpSpPr>
        <ns0:grpSp>
          <ns0:nvGrpSpPr>
            <ns0:cNvPr id="63" name="组合 62"/>
            <ns0:cNvGrpSpPr/>
            <ns0:nvPr/>
          </ns0:nvGrpSpPr>
          <ns0:grpSpPr>
            <ns1:xfrm>
              <ns1:off x="3162416" y="1535627"/>
              <ns1:ext cx="923809" cy="924143"/>
              <ns1:chOff x="4345444" y="2542859"/>
              <ns1:chExt cx="1810550" cy="1811205"/>
            </ns1:xfrm>
          </ns0:grpSpPr>
          <ns0:grpSp>
            <ns0:nvGrpSpPr>
              <ns0:cNvPr id="66" name="组合 65"/>
              <ns0:cNvGrpSpPr/>
              <ns0:nvPr/>
            </ns0:nvGrpSpPr>
            <ns0:grpSpPr>
              <ns1:xfrm>
                <ns1:off x="4345444" y="2542859"/>
                <ns1:ext cx="1810550" cy="1811205"/>
                <ns1:chOff x="1463339" y="1072758"/>
                <ns1:chExt cx="1546058" cy="1546058"/>
              </ns1:xfrm>
              <ns1:effectLst>
                <ns1:outerShdw blurRad="330200" dist="215900" dir="6900000" sx="91000" sy="91000" algn="t" rotWithShape="0">
                  <ns1:prstClr val="black">
                    <ns1:alpha val="49000"/>
                  </ns1:prstClr>
                </ns1:outerShdw>
              </ns1:effectLst>
            </ns0:grpSpPr>
            <ns0:sp>
              <ns0:nvSpPr>
                <ns0:cNvPr id="68" name="同心圆 67"/>
                <ns0:cNvSpPr/>
                <ns0:nvPr>
                  <ns0:custDataLst>
                    <ns0:tags ns2:id="rId22"/>
                  </ns0:custDataLst>
                </ns0:nvPr>
              </ns0:nvSpPr>
              <ns0:spPr>
                <ns1:xfrm>
                  <ns1:off x="1463339" y="1072758"/>
                  <ns1:ext cx="1546058" cy="1546058"/>
                </ns1:xfrm>
                <ns1:prstGeom prst="donut">
                  <ns1:avLst>
                    <ns1:gd name="adj" fmla="val 4879"/>
                  </ns1:avLst>
                </ns1:prstGeom>
                <ns1:gradFill>
                  <ns1:gsLst>
                    <ns1:gs pos="0">
                      <ns1:schemeClr val="bg1">
                        <ns1:lumMod val="95000"/>
                      </ns1:schemeClr>
                    </ns1:gs>
                    <ns1:gs pos="55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81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solidFill>
                      <ns1:schemeClr val="tx1"/>
                    </ns1:solidFill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71" name="椭圆 70"/>
                <ns0:cNvSpPr/>
                <ns0:nvPr>
                  <ns0:custDataLst>
                    <ns0:tags ns2:id="rId23"/>
                  </ns0:custDataLst>
                </ns0:nvPr>
              </ns0:nvSpPr>
              <ns0:spPr>
                <ns1:xfrm>
                  <ns1:off x="1484232" y="1093651"/>
                  <ns1:ext cx="1504274" cy="1504273"/>
                </ns1:xfrm>
                <ns1:prstGeom prst="ellipse">
                  <ns1:avLst/>
                </ns1:prstGeom>
                <ns1:gradFill>
                  <ns1:gsLst>
                    <ns1:gs pos="0">
                      <ns1:schemeClr val="bg1"/>
                    </ns1:gs>
                    <ns1:gs pos="51000">
                      <ns1:schemeClr val="bg1">
                        <ns1:lumMod val="95000"/>
                      </ns1:schemeClr>
                    </ns1:gs>
                    <ns1:gs pos="100000">
                      <ns1:schemeClr val="bg1">
                        <ns1:lumMod val="85000"/>
                      </ns1:schemeClr>
                    </ns1:gs>
                  </ns1:gsLst>
                  <ns1:lin ang="18900000" scaled="0"/>
                </ns1:gradFill>
                <ns1:ln>
                  <ns1:noFill/>
                </ns1:ln>
              </ns0:spPr>
              <ns0:style>
                <ns1:lnRef idx="2">
                  <ns1:schemeClr val="accent1">
                    <ns1:shade val="50000"/>
                  </ns1:schemeClr>
                </ns1:lnRef>
                <ns1:fillRef idx="1">
                  <ns1:schemeClr val="accent1"/>
                </ns1:fillRef>
                <ns1:effectRef idx="0">
                  <ns1:schemeClr val="accent1"/>
                </ns1:effectRef>
                <ns1:fontRef idx="minor">
                  <ns1:schemeClr val="lt1"/>
                </ns1:fontRef>
              </ns0:style>
              <ns0:txBody>
                <ns1:bodyPr rtlCol="0" anchor="ctr"/>
                <ns1:lstStyle/>
                <ns1:p>
                  <ns1:pPr algn="ctr"/>
                  <ns1:endParaRPr lang="zh-CN" altLang="en-US">
                    <ns1:cs typeface="+mn-ea"/>
                    <ns1:sym typeface="+mn-lt"/>
                  </ns1:endParaRPr>
                </ns1:p>
              </ns0:txBody>
            </ns0:sp>
          </ns0:grpSp>
          <ns0:sp>
            <ns0:nvSpPr>
              <ns0:cNvPr id="67" name="椭圆 66"/>
              <ns0:cNvSpPr/>
              <ns0:nvPr>
                <ns0:custDataLst>
                  <ns0:tags ns2:id="rId24"/>
                </ns0:custDataLst>
              </ns0:nvPr>
            </ns0:nvSpPr>
            <ns0:spPr>
              <ns1:xfrm>
                <ns1:off x="4523580" y="2742068"/>
                <ns1:ext cx="1433004" cy="1433521"/>
              </ns1:xfrm>
              <ns1:prstGeom prst="ellipse">
                <ns1:avLst/>
              </ns1:prstGeom>
              <ns1:solidFill>
                <ns1:srgbClr val="0070C0"/>
              </ns1:solidFill>
              <ns1:ln>
                <ns1:noFill/>
              </ns1:ln>
              <ns1:effectLst/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algn="ctr"/>
                <ns1:endParaRPr lang="zh-CN" altLang="en-US">
                  <ns1:cs typeface="+mn-ea"/>
                  <ns1:sym typeface="+mn-lt"/>
                </ns1:endParaRPr>
              </ns1:p>
            </ns0:txBody>
          </ns0:sp>
        </ns0:grpSp>
        <ns0:sp>
          <ns0:nvSpPr>
            <ns0:cNvPr id="65" name="TextBox 20"/>
            <ns0:cNvSpPr txBox="1"/>
            <ns0:nvPr>
              <ns0:custDataLst>
                <ns0:tags ns2:id="rId25"/>
              </ns0:custDataLst>
            </ns0:nvPr>
          </ns0:nvSpPr>
          <ns0:spPr>
            <ns1:xfrm>
              <ns1:off x="3286376" y="1677774"/>
              <ns1:ext cx="476498" cy="622680"/>
            </ns1:xfrm>
            <ns1:prstGeom prst="rect">
              <ns1:avLst/>
            </ns1:prstGeom>
            <ns1:noFill/>
            <ns1:ln>
              <ns1:noFill/>
            </ns1:ln>
          </ns0:spPr>
          <ns0:style>
            <ns1:lnRef idx="2">
              <ns1:schemeClr val="accent1"/>
            </ns1:lnRef>
            <ns1:fillRef idx="1">
              <ns1:schemeClr val="lt1"/>
            </ns1:fillRef>
            <ns1:effectRef idx="0">
              <ns1:schemeClr val="accent1"/>
            </ns1:effectRef>
            <ns1:fontRef idx="minor">
              <ns1:schemeClr val="dk1"/>
            </ns1:fontRef>
          </ns0:style>
          <ns0:txBody>
            <ns1:bodyPr wrap="square" rtlCol="0" anchor="t" anchorCtr="0">
              <ns1:spAutoFit/>
            </ns1:bodyPr>
            <ns1:lstStyle>
              <ns1:defPPr>
                <ns1:defRPr lang="zh-CN"/>
              </ns1:defPPr>
              <ns1:lvl1pPr marL="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1pPr>
              <ns1:lvl2pPr marL="457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2pPr>
              <ns1:lvl3pPr marL="914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3pPr>
              <ns1:lvl4pPr marL="1371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4pPr>
              <ns1:lvl5pPr marL="18288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5pPr>
              <ns1:lvl6pPr marL="22860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6pPr>
              <ns1:lvl7pPr marL="27432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7pPr>
              <ns1:lvl8pPr marL="32004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8pPr>
              <ns1:lvl9pPr marL="3657600" algn="l" defTabSz="914400" rtl="0" eaLnBrk="1" latinLnBrk="0" hangingPunct="1">
                <ns1:defRPr sz="1800" kern="1200">
                  <ns1:solidFill>
                    <ns1:schemeClr val="dk1"/>
                  </ns1:solidFill>
                  <ns1:latin typeface="+mn-lt"/>
                  <ns1:ea typeface="+mn-ea"/>
                  <ns1:cs typeface="+mn-cs"/>
                </ns1:defRPr>
              </ns1:lvl9pPr>
            </ns1:lstStyle>
            <ns1:p>
              <ns1:r>
                <ns1:rPr lang="zh-CN" altLang="en-US" sz="2400" b="1" spc="1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四</ns1:t>
              </ns1:r>
              <ns1:endParaRPr lang="zh-CN" altLang="en-US" sz="2400" b="1" spc="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</ns0:grp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rotWithShape="1">
          <ns1:blip ns2:embed="rId1"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TextBox 20"/>
          <ns0:cNvSpPr txBox="1"/>
          <ns0:nvPr/>
        </ns0:nvSpPr>
        <ns0:spPr>
          <ns1:xfrm>
            <ns1:off x="560441" y="278788"/>
            <ns1:ext cx="9962225" cy="55308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30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一、典型应用过程</ns1:t>
            </ns1:r>
            <ns1:endParaRPr lang="zh-CN" altLang="en-US" sz="3000" b="1" spc="100" dirty="0">
              <ns1:solidFill>
                <ns1:schemeClr val="bg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25" name="五边形 24"/>
          <ns0:cNvSpPr/>
          <ns0:nvPr/>
        </ns0:nvSpPr>
        <ns0:spPr>
          <ns1:xfrm rot="10800000">
            <ns1:off x="9714230" y="0"/>
            <ns1:ext cx="2477770" cy="982345"/>
          </ns1:xfrm>
          <ns1:prstGeom prst="homePlate">
            <ns1:avLst>
              <ns1:gd name="adj" fmla="val 35482"/>
            </ns1:avLst>
          </ns1:prstGeom>
          <ns1:solidFill>
            <ns1:schemeClr val="bg1">
              <ns1:alpha val="90000"/>
            </ns1:schemeClr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ctr"/>
            <ns1:endParaRPr lang="zh-CN" altLang="en-US">
              <ns1:ea typeface="微软雅黑" panose="020B0503020204020204" pitchFamily="34" charset="-122"/>
            </ns1:endParaRPr>
          </ns1:p>
        </ns0:txBody>
      </ns0:sp>
      <ns0:sp>
        <ns0:nvSpPr>
          <ns0:cNvPr id="26" name="TextBox 20"/>
          <ns0:cNvSpPr txBox="1"/>
          <ns0:nvPr/>
        </ns0:nvSpPr>
        <ns0:spPr>
          <ns1:xfrm>
            <ns1:off x="10328910" y="278765"/>
            <ns1:ext cx="1859915" cy="46037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应用情况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</ns0:txBody>
      </ns0:sp>
      <ns0:sp>
        <ns0:nvSpPr>
          <ns0:cNvPr id="3" name="TextBox 20"/>
          <ns0:cNvSpPr txBox="1"/>
          <ns0:nvPr/>
        </ns0:nvSpPr>
        <ns0:spPr>
          <ns1:xfrm>
            <ns1:off x="702310" y="1519555"/>
            <ns1:ext cx="10556875" cy="58483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no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1. 教师先在课程资源中准备讲解页、Blockly 工作区、Notebook 和素材图片。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2. 学生从目标案例进入课堂，先看流程，再做积木，再看代码。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3. 最后结合结果图和课堂讨论完成总结与复盘。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  <ns0:timing>
    <ns0:tnLst>
      <ns0:par>
        <ns0:cTn id="1" dur="indefinite" restart="never" nodeType="tmRoot"/>
      </ns0:par>
    </ns0:tnLst>
  </ns0:timing>
</ns0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rotWithShape="1">
          <ns1:blip ns2:embed="rId1"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TextBox 20"/>
          <ns0:cNvSpPr txBox="1"/>
          <ns0:nvPr/>
        </ns0:nvSpPr>
        <ns0:spPr>
          <ns1:xfrm>
            <ns1:off x="560441" y="278788"/>
            <ns1:ext cx="9962225" cy="55308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3000" b="1" spc="100" dirty="0">
                <ns1:solidFill>
                  <ns1:schemeClr val="bg1"/>
                </ns1:solidFill>
                <ns1:latin typeface="楷体" charset="0"/>
                <ns1:ea typeface="楷体" charset="0"/>
                <ns1:cs typeface="楷体" charset="0"/>
              </ns1:rPr>
              <ns1:t>二、应用效果、AI 证据与改进</ns1:t>
            </ns1:r>
            <ns1:endParaRPr lang="zh-CN" altLang="en-US" sz="3000" b="1" spc="100" dirty="0">
              <ns1:solidFill>
                <ns1:schemeClr val="bg1"/>
              </ns1:solidFill>
              <ns1:latin typeface="楷体" charset="0"/>
              <ns1:ea typeface="楷体" charset="0"/>
              <ns1:cs typeface="楷体" charset="0"/>
            </ns1:endParaRPr>
          </ns1:p>
        </ns0:txBody>
      </ns0:sp>
      <ns0:sp>
        <ns0:nvSpPr>
          <ns0:cNvPr id="25" name="五边形 24"/>
          <ns0:cNvSpPr/>
          <ns0:nvPr/>
        </ns0:nvSpPr>
        <ns0:spPr>
          <ns1:xfrm rot="10800000">
            <ns1:off x="9714230" y="0"/>
            <ns1:ext cx="2477770" cy="982345"/>
          </ns1:xfrm>
          <ns1:prstGeom prst="homePlate">
            <ns1:avLst>
              <ns1:gd name="adj" fmla="val 35482"/>
            </ns1:avLst>
          </ns1:prstGeom>
          <ns1:solidFill>
            <ns1:schemeClr val="bg1">
              <ns1:alpha val="90000"/>
            </ns1:schemeClr>
          </ns1:solidFill>
          <ns1:ln>
            <ns1:noFill/>
          </ns1:ln>
          <ns1:effectLst/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lt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pPr algn="ctr"/>
            <ns1:endParaRPr lang="zh-CN" altLang="en-US">
              <ns1:ea typeface="微软雅黑" panose="020B0503020204020204" pitchFamily="34" charset="-122"/>
            </ns1:endParaRPr>
          </ns1:p>
        </ns0:txBody>
      </ns0:sp>
      <ns0:sp>
        <ns0:nvSpPr>
          <ns0:cNvPr id="3" name="TextBox 20"/>
          <ns0:cNvSpPr txBox="1"/>
          <ns0:nvPr/>
        </ns0:nvSpPr>
        <ns0:spPr>
          <ns1:xfrm>
            <ns1:off x="702310" y="1519555"/>
            <ns1:ext cx="10556875" cy="58483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no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000" spc="100" dirty="0">
                <ns1:solidFill>
                  <ns1:schemeClr val="tx1"/>
                </ns1:solidFill>
                <ns1:latin typeface="楷体" charset="0"/>
                <ns1:ea typeface="楷体" charset="0"/>
                <ns1:cs typeface="楷体" charset="0"/>
                <ns1:sym typeface="+mn-ea"/>
              </ns1:rPr>
              <ns1:t>应用情况</ns1:t>
            </ns1:r>
            <ns1:endParaRPr lang="zh-CN" altLang="en-US" sz="2000" spc="100" dirty="0">
              <ns1:solidFill>
                <ns1:schemeClr val="tx1"/>
              </ns1:solidFill>
              <ns1:latin typeface="黑体" panose="02010609060101010101" charset="-122"/>
              <ns1:ea typeface="黑体" panose="02010609060101010101" charset="-122"/>
              <ns1:cs typeface="黑体" panose="02010609060101010101" charset="-122"/>
            </ns1:endParaRPr>
          </ns1:p>
        </ns0:txBody>
      </ns0:sp>
      <ns0:sp>
        <ns0:nvSpPr>
          <ns0:cNvPr id="2" name="TextBox 20"/>
          <ns0:cNvSpPr txBox="1"/>
          <ns0:nvPr/>
        </ns0:nvSpPr>
        <ns0:spPr>
          <ns1:xfrm>
            <ns1:off x="10328910" y="278765"/>
            <ns1:ext cx="1859915" cy="460375"/>
          </ns1:xfrm>
          <ns1:prstGeom prst="rect">
            <ns1:avLst/>
          </ns1:prstGeom>
          <ns1:noFill/>
          <ns1:ln>
            <ns1:noFill/>
          </ns1:ln>
        </ns0:spPr>
        <ns0:style>
          <ns1:lnRef idx="2">
            <ns1:schemeClr val="accent1"/>
          </ns1:lnRef>
          <ns1:fillRef idx="1">
            <ns1:schemeClr val="lt1"/>
          </ns1:fillRef>
          <ns1:effectRef idx="0">
            <ns1:schemeClr val="accent1"/>
          </ns1:effectRef>
          <ns1:fontRef idx="minor">
            <ns1:schemeClr val="dk1"/>
          </ns1:fontRef>
        </ns0:style>
        <ns0:txBody>
          <ns1:bodyPr wrap="square" rtlCol="0" anchor="t" anchorCtr="0">
            <ns1:spAutoFit/>
          </ns1:bodyPr>
          <ns1:lstStyle>
            <ns1:defPPr>
              <ns1:defRPr lang="zh-CN"/>
            </ns1:defPPr>
            <ns1:lvl1pPr marL="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1pPr>
            <ns1:lvl2pPr marL="457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2pPr>
            <ns1:lvl3pPr marL="914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3pPr>
            <ns1:lvl4pPr marL="1371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4pPr>
            <ns1:lvl5pPr marL="18288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5pPr>
            <ns1:lvl6pPr marL="22860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6pPr>
            <ns1:lvl7pPr marL="27432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7pPr>
            <ns1:lvl8pPr marL="32004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8pPr>
            <ns1:lvl9pPr marL="3657600" algn="l" defTabSz="914400" rtl="0" eaLnBrk="1" latinLnBrk="0" hangingPunct="1">
              <ns1:defRPr sz="1800" kern="1200">
                <ns1:solidFill>
                  <ns1:schemeClr val="dk1"/>
                </ns1:solidFill>
                <ns1:latin typeface="+mn-lt"/>
                <ns1:ea typeface="+mn-ea"/>
                <ns1:cs typeface="+mn-cs"/>
              </ns1:defRPr>
            </ns1:lvl9pPr>
          </ns1:lstStyle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1. 课堂效果：降低人工智能实验起步门槛，增强课堂连续性。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2. 数据占位：[待补：学校/班级/学生人数/课时数]。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3. AI 证据：补入国产 AI 对话截图、提示词片段、采纳对比。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  <ns1:p>
            <ns1:r>
              <ns1:rPr lang="zh-CN" altLang="en-US" sz="2400" b="1" spc="100" dirty="0">
                <ns1:solidFill>
                  <ns1:srgbClr val="2C489B"/>
                </ns1:solidFill>
                <ns1:latin typeface="黑体" panose="02010609060101010101" charset="-122"/>
                <ns1:ea typeface="黑体" panose="02010609060101010101" charset="-122"/>
              </ns1:rPr>
              <ns1:t>4. 改进方向：继续完善安装手册、使用手册和课堂案例包。</ns1:t>
            </ns1:r>
            <ns1:endParaRPr lang="zh-CN" altLang="en-US" sz="2400" b="1" spc="100" dirty="0">
              <ns1:solidFill>
                <ns1:srgbClr val="2C489B"/>
              </ns1:solidFill>
              <ns1:latin typeface="黑体" panose="02010609060101010101" charset="-122"/>
              <ns1:ea typeface="黑体" panose="02010609060101010101" charset="-122"/>
            </ns1:endParaRPr>
          </ns1:p>
        </ns0:txBody>
      </ns0: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  <ns0:timing>
    <ns0:tnLst>
      <ns0:par>
        <ns0:cTn id="1" dur="indefinite" restart="never" nodeType="tmRoot"/>
      </ns0:par>
    </ns0:tn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openxmlformats.org/markup-compatibility/2006" xmlns:ns4="http://schemas.microsoft.com/office/powerpoint/2010/main">
  <ns0:cSld>
    <ns0:bg>
      <ns0:bgPr>
        <ns1:blipFill dpi="0" rotWithShape="1">
          <ns1:blip ns2:embed="rId1"/>
          <ns1:srcRect/>
          <ns1:stretch>
            <ns1:fillRect/>
          </ns1:stretch>
        </ns1:blip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6" name="文本占位符 5"/>
          <ns0:cNvSpPr>
            <ns1:spLocks noGrp="1"/>
          </ns0:cNvSpPr>
          <ns0:nvPr>
            <ns0:ph type="body" idx="13"/>
          </ns0:nvPr>
        </ns0:nvSpPr>
        <ns0:spPr>
          <ns1:xfrm>
            <ns1:off x="4960773" y="2474136"/>
            <ns1:ext cx="5633085" cy="1651635"/>
          </ns1:xfrm>
        </ns0:spPr>
        <ns0:txBody>
          <ns1:bodyPr>
            <ns1:normAutofit/>
          </ns1:bodyPr>
          <ns1:lstStyle/>
          <ns1:p>
            <ns1:pPr marL="0" indent="0">
              <ns1:buNone/>
            </ns1:pPr>
            <ns1:r>
              <ns1:rPr lang="zh-CN" altLang="en-US" sz="7200" b="1" spc="100" dirty="0">
                <ns1:solidFill>
                  <ns1:schemeClr val="bg1"/>
                </ns1:solidFill>
                <ns1:latin typeface="楷体" charset="0"/>
                <ns1:ea typeface="楷体" charset="0"/>
              </ns1:rPr>
              <ns1:t>谢谢！</ns1:t>
            </ns1:r>
            <ns1:endParaRPr lang="zh-CN" altLang="en-US" sz="7200" b="1" spc="100" dirty="0">
              <ns1:solidFill>
                <ns1:schemeClr val="bg1"/>
              </ns1:solidFill>
              <ns1:latin typeface="楷体" charset="0"/>
              <ns1:ea typeface="楷体" charset="0"/>
            </ns1:endParaRPr>
          </ns1:p>
        </ns0:txBody>
      </ns0:sp>
    </ns0:spTree>
  </ns0:cSld>
  <ns0:clrMapOvr>
    <ns1:masterClrMapping/>
  </ns0:clrMapOvr>
  <ns3:AlternateContent>
    <ns3:Choice Requires="p14">
      <ns0:transition spd="med" ns4:dur="699">
        <ns0:fade/>
      </ns0:transition>
    </ns3:Choice>
    <ns3:Fallback>
      <ns0:transition spd="med">
        <ns0:fade/>
      </ns0:transition>
    </ns3:Fallback>
  </ns3:AlternateContent>
  <ns0:timing>
    <ns0:tnLst>
      <ns0:par>
        <ns0:cTn id="1" dur="indefinite" restart="never" nodeType="tmRoot"/>
      </ns0:par>
    </ns0:tnLst>
  </ns0:timing>
</ns0:sld>
</file>

<file path=ppt/tags/tag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9.xml><?xml version="1.0" encoding="utf-8"?>
<p:tagLst xmlns:p="http://schemas.openxmlformats.org/presentationml/2006/main">
  <p:tag name="RESOURCE_RECORD_KEY" val="{&quot;13&quot;:[4519456,4519452,20025430,4364924,4364903,436494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</Words>
  <Application>WPS 演示</Application>
  <PresentationFormat>宽屏</PresentationFormat>
  <Paragraphs>81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宋体</vt:lpstr>
      <vt:lpstr>Wingdings</vt:lpstr>
      <vt:lpstr>Nimbus Roman No9 L</vt:lpstr>
      <vt:lpstr>微软雅黑</vt:lpstr>
      <vt:lpstr>楷体</vt:lpstr>
      <vt:lpstr>方正楷体_GBK</vt:lpstr>
      <vt:lpstr>黑体</vt:lpstr>
      <vt:lpstr>方正黑体_GBK</vt:lpstr>
      <vt:lpstr>宋体</vt:lpstr>
      <vt:lpstr>Arial Unicode MS</vt:lpstr>
      <vt:lpstr>等线 Light</vt:lpstr>
      <vt:lpstr>国标仿宋</vt:lpstr>
      <vt:lpstr>等线</vt:lpstr>
      <vt:lpstr>Calibri</vt:lpstr>
      <vt:lpstr>方正书宋_GBK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LRC</cp:lastModifiedBy>
  <cp:revision>137</cp:revision>
  <dcterms:created xsi:type="dcterms:W3CDTF">2026-03-16T02:33:31Z</dcterms:created>
  <dcterms:modified xsi:type="dcterms:W3CDTF">2026-03-16T02:33:31Z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2052-12.8.2.1119</vt:lpwstr>
  </property>
  <property fmtid="{D5CDD505-2E9C-101B-9397-08002B2CF9AE}" pid="3" name="KSOTemplateUUID">
    <vt:lpwstr>v1.0_mb_YFc6q+HctIANJrpWT950vA==</vt:lpwstr>
  </property>
  <property fmtid="{D5CDD505-2E9C-101B-9397-08002B2CF9AE}" pid="4" name="ICV">
    <vt:lpwstr>7F7ACFEE96524FCF746AB769A5D8BC47_43</vt:lpwstr>
  </property>
</Properties>
</file>
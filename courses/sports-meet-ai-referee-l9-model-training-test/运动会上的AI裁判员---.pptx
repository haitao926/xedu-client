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14925" r:id="rId3"/>
    <p:sldId id="14923" r:id="rId4"/>
    <p:sldId id="14924" r:id="rId5"/>
    <p:sldId id="14922" r:id="rId6"/>
    <p:sldId id="14920" r:id="rId7"/>
    <p:sldId id="14921" r:id="rId8"/>
    <p:sldId id="14928" r:id="rId9"/>
    <p:sldId id="14917" r:id="rId10"/>
    <p:sldId id="14919" r:id="rId11"/>
    <p:sldId id="14927" r:id="rId12"/>
    <p:sldId id="14929" r:id="rId13"/>
    <p:sldId id="1492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6fbda7c0144a7f6" providerId="LiveId" clId="{18632BDC-F3CB-4F2D-A93D-26E1A6089AA6}"/>
    <pc:docChg chg="custSel addSld modSld sldOrd">
      <pc:chgData name="" userId="66fbda7c0144a7f6" providerId="LiveId" clId="{18632BDC-F3CB-4F2D-A93D-26E1A6089AA6}" dt="2025-12-08T02:31:18.091" v="228"/>
      <pc:docMkLst>
        <pc:docMk/>
      </pc:docMkLst>
      <pc:sldChg chg="addSp modSp add ord">
        <pc:chgData name="" userId="66fbda7c0144a7f6" providerId="LiveId" clId="{18632BDC-F3CB-4F2D-A93D-26E1A6089AA6}" dt="2025-12-08T02:25:36.367" v="107"/>
        <pc:sldMkLst>
          <pc:docMk/>
          <pc:sldMk cId="3908668395" sldId="14926"/>
        </pc:sldMkLst>
        <pc:spChg chg="add">
          <ac:chgData name="" userId="66fbda7c0144a7f6" providerId="LiveId" clId="{18632BDC-F3CB-4F2D-A93D-26E1A6089AA6}" dt="2025-12-08T02:19:13.572" v="1"/>
          <ac:spMkLst>
            <pc:docMk/>
            <pc:sldMk cId="3908668395" sldId="14926"/>
            <ac:spMk id="2" creationId="{E8513A0D-D0FD-4368-84C8-F5C345671B05}"/>
          </ac:spMkLst>
        </pc:spChg>
        <pc:spChg chg="add">
          <ac:chgData name="" userId="66fbda7c0144a7f6" providerId="LiveId" clId="{18632BDC-F3CB-4F2D-A93D-26E1A6089AA6}" dt="2025-12-08T02:20:10.352" v="66"/>
          <ac:spMkLst>
            <pc:docMk/>
            <pc:sldMk cId="3908668395" sldId="14926"/>
            <ac:spMk id="4" creationId="{44CCE4CC-D4E8-4350-870D-0C380EBB04A6}"/>
          </ac:spMkLst>
        </pc:spChg>
        <pc:spChg chg="add mod">
          <ac:chgData name="" userId="66fbda7c0144a7f6" providerId="LiveId" clId="{18632BDC-F3CB-4F2D-A93D-26E1A6089AA6}" dt="2025-12-08T02:20:24.021" v="106" actId="14100"/>
          <ac:spMkLst>
            <pc:docMk/>
            <pc:sldMk cId="3908668395" sldId="14926"/>
            <ac:spMk id="5" creationId="{9F597576-7775-40D1-BB34-F9D3F323D109}"/>
          </ac:spMkLst>
        </pc:spChg>
        <pc:picChg chg="add mod">
          <ac:chgData name="" userId="66fbda7c0144a7f6" providerId="LiveId" clId="{18632BDC-F3CB-4F2D-A93D-26E1A6089AA6}" dt="2025-12-08T02:19:58.109" v="65" actId="1076"/>
          <ac:picMkLst>
            <pc:docMk/>
            <pc:sldMk cId="3908668395" sldId="14926"/>
            <ac:picMk id="3076" creationId="{5EB76EC3-C05E-42F9-B068-346BFB2D3557}"/>
          </ac:picMkLst>
        </pc:picChg>
      </pc:sldChg>
      <pc:sldChg chg="addSp modSp add ord">
        <pc:chgData name="" userId="66fbda7c0144a7f6" providerId="LiveId" clId="{18632BDC-F3CB-4F2D-A93D-26E1A6089AA6}" dt="2025-12-08T02:29:09.896" v="138" actId="1076"/>
        <pc:sldMkLst>
          <pc:docMk/>
          <pc:sldMk cId="3935916688" sldId="14927"/>
        </pc:sldMkLst>
        <pc:spChg chg="add">
          <ac:chgData name="" userId="66fbda7c0144a7f6" providerId="LiveId" clId="{18632BDC-F3CB-4F2D-A93D-26E1A6089AA6}" dt="2025-12-08T02:19:23.828" v="3"/>
          <ac:spMkLst>
            <pc:docMk/>
            <pc:sldMk cId="3935916688" sldId="14927"/>
            <ac:spMk id="2" creationId="{556A6D9B-6235-4452-ABC3-A5A7BCADCDF3}"/>
          </ac:spMkLst>
        </pc:spChg>
        <pc:spChg chg="add mod">
          <ac:chgData name="" userId="66fbda7c0144a7f6" providerId="LiveId" clId="{18632BDC-F3CB-4F2D-A93D-26E1A6089AA6}" dt="2025-12-08T02:19:36.163" v="59"/>
          <ac:spMkLst>
            <pc:docMk/>
            <pc:sldMk cId="3935916688" sldId="14927"/>
            <ac:spMk id="3" creationId="{988A473D-B97D-47AF-AC7C-E009B077C6AD}"/>
          </ac:spMkLst>
        </pc:spChg>
        <pc:picChg chg="add mod">
          <ac:chgData name="" userId="66fbda7c0144a7f6" providerId="LiveId" clId="{18632BDC-F3CB-4F2D-A93D-26E1A6089AA6}" dt="2025-12-08T02:29:09.896" v="138" actId="1076"/>
          <ac:picMkLst>
            <pc:docMk/>
            <pc:sldMk cId="3935916688" sldId="14927"/>
            <ac:picMk id="4" creationId="{E33E922F-0060-4A47-853A-921E9A38602E}"/>
          </ac:picMkLst>
        </pc:picChg>
      </pc:sldChg>
      <pc:sldChg chg="addSp modSp add ord">
        <pc:chgData name="" userId="66fbda7c0144a7f6" providerId="LiveId" clId="{18632BDC-F3CB-4F2D-A93D-26E1A6089AA6}" dt="2025-12-08T02:28:25.709" v="134" actId="1076"/>
        <pc:sldMkLst>
          <pc:docMk/>
          <pc:sldMk cId="3156493141" sldId="14928"/>
        </pc:sldMkLst>
        <pc:spChg chg="add mod">
          <ac:chgData name="" userId="66fbda7c0144a7f6" providerId="LiveId" clId="{18632BDC-F3CB-4F2D-A93D-26E1A6089AA6}" dt="2025-12-08T02:27:33.733" v="127"/>
          <ac:spMkLst>
            <pc:docMk/>
            <pc:sldMk cId="3156493141" sldId="14928"/>
            <ac:spMk id="2" creationId="{B1BE5609-717E-4E38-93DE-792F2F9A9134}"/>
          </ac:spMkLst>
        </pc:spChg>
        <pc:spChg chg="add">
          <ac:chgData name="" userId="66fbda7c0144a7f6" providerId="LiveId" clId="{18632BDC-F3CB-4F2D-A93D-26E1A6089AA6}" dt="2025-12-08T02:27:29.465" v="109"/>
          <ac:spMkLst>
            <pc:docMk/>
            <pc:sldMk cId="3156493141" sldId="14928"/>
            <ac:spMk id="3" creationId="{582666A1-E2F0-478E-88AD-F970B24B291A}"/>
          </ac:spMkLst>
        </pc:spChg>
        <pc:picChg chg="add mod modCrop">
          <ac:chgData name="" userId="66fbda7c0144a7f6" providerId="LiveId" clId="{18632BDC-F3CB-4F2D-A93D-26E1A6089AA6}" dt="2025-12-08T02:28:25.709" v="134" actId="1076"/>
          <ac:picMkLst>
            <pc:docMk/>
            <pc:sldMk cId="3156493141" sldId="14928"/>
            <ac:picMk id="4" creationId="{C031301E-AD71-4830-8FAC-53F5BA2D6DA8}"/>
          </ac:picMkLst>
        </pc:picChg>
      </pc:sldChg>
      <pc:sldChg chg="addSp modSp add">
        <pc:chgData name="" userId="66fbda7c0144a7f6" providerId="LiveId" clId="{18632BDC-F3CB-4F2D-A93D-26E1A6089AA6}" dt="2025-12-08T02:31:18.091" v="228"/>
        <pc:sldMkLst>
          <pc:docMk/>
          <pc:sldMk cId="4219724716" sldId="14929"/>
        </pc:sldMkLst>
        <pc:spChg chg="add mod">
          <ac:chgData name="" userId="66fbda7c0144a7f6" providerId="LiveId" clId="{18632BDC-F3CB-4F2D-A93D-26E1A6089AA6}" dt="2025-12-08T02:31:18.091" v="228"/>
          <ac:spMkLst>
            <pc:docMk/>
            <pc:sldMk cId="4219724716" sldId="14929"/>
            <ac:spMk id="2" creationId="{6D6088AB-F30D-4B97-9A50-1EE38FCE90D1}"/>
          </ac:spMkLst>
        </pc:spChg>
        <pc:spChg chg="add">
          <ac:chgData name="" userId="66fbda7c0144a7f6" providerId="LiveId" clId="{18632BDC-F3CB-4F2D-A93D-26E1A6089AA6}" dt="2025-12-08T02:30:09.459" v="193"/>
          <ac:spMkLst>
            <pc:docMk/>
            <pc:sldMk cId="4219724716" sldId="14929"/>
            <ac:spMk id="3" creationId="{6318E143-4005-43E4-95C3-09F21ED01747}"/>
          </ac:spMkLst>
        </pc:spChg>
        <pc:spChg chg="add mod">
          <ac:chgData name="" userId="66fbda7c0144a7f6" providerId="LiveId" clId="{18632BDC-F3CB-4F2D-A93D-26E1A6089AA6}" dt="2025-12-08T02:30:12.729" v="195"/>
          <ac:spMkLst>
            <pc:docMk/>
            <pc:sldMk cId="4219724716" sldId="14929"/>
            <ac:spMk id="4" creationId="{A55039B8-12D9-4BD7-BC11-C8F6E6B1F4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7D1EC-3EA2-4C59-B286-4470AB1EFEC6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2438C-3E3C-4BA1-9CFD-F6C30C587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48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模型简单说可以理解为函数。</a:t>
            </a:r>
            <a:br>
              <a:rPr lang="zh-CN" altLang="en-US" dirty="0"/>
            </a:b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函数就是训练的结果，使用模型就是把新的数据代入函数求值。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B8D69E-E4B3-4E2B-9CA4-F364D7F478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B8D69E-E4B3-4E2B-9CA4-F364D7F478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B8D69E-E4B3-4E2B-9CA4-F364D7F4781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003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80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003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641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5570162"/>
            <a:ext cx="10515600" cy="5194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454" y="808085"/>
            <a:ext cx="5682103" cy="568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6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6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3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506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形 4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971" y="0"/>
            <a:ext cx="3688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7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748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07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5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726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 txBox="1"/>
          <p:nvPr userDrawn="1"/>
        </p:nvSpPr>
        <p:spPr>
          <a:xfrm>
            <a:off x="9547754" y="6439001"/>
            <a:ext cx="2240491" cy="14826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1018540" rtl="0" eaLnBrk="1" latinLnBrk="0" hangingPunct="1">
              <a:defRPr sz="125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927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54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44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71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698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25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616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43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EBD7F86-1881-4698-8703-FB80B0800997}" type="slidenum">
              <a:rPr kumimoji="0" lang="en-GB" sz="1255" b="0" i="0" u="none" strike="noStrike" kern="1200" cap="none" spc="0" normalizeH="0" baseline="0" noProof="0" smtClean="0">
                <a:ln>
                  <a:noFill/>
                </a:ln>
                <a:solidFill>
                  <a:srgbClr val="025F8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GB" sz="1255" b="0" i="0" u="none" strike="noStrike" kern="1200" cap="none" spc="0" normalizeH="0" baseline="0" noProof="0" dirty="0">
              <a:ln>
                <a:noFill/>
              </a:ln>
              <a:solidFill>
                <a:srgbClr val="025F8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图片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530" y="0"/>
            <a:ext cx="1455738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 descr="图片包含 文本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451" y="41254"/>
            <a:ext cx="3626036" cy="39372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04015" y="889369"/>
            <a:ext cx="2982388" cy="0"/>
            <a:chOff x="1211071" y="2722880"/>
            <a:chExt cx="2982388" cy="0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1211071" y="2722880"/>
              <a:ext cx="2982388" cy="0"/>
            </a:xfrm>
            <a:prstGeom prst="line">
              <a:avLst/>
            </a:prstGeom>
            <a:noFill/>
            <a:ln w="6350" cap="flat" cmpd="sng" algn="ctr">
              <a:solidFill>
                <a:srgbClr val="20B8FF"/>
              </a:solidFill>
              <a:prstDash val="solid"/>
              <a:miter lim="800000"/>
            </a:ln>
            <a:effectLst/>
          </p:spPr>
        </p:cxnSp>
        <p:cxnSp>
          <p:nvCxnSpPr>
            <p:cNvPr id="7" name="直接连接符 6"/>
            <p:cNvCxnSpPr/>
            <p:nvPr/>
          </p:nvCxnSpPr>
          <p:spPr>
            <a:xfrm>
              <a:off x="1211072" y="2722880"/>
              <a:ext cx="338328" cy="0"/>
            </a:xfrm>
            <a:prstGeom prst="line">
              <a:avLst/>
            </a:prstGeom>
            <a:noFill/>
            <a:ln w="50800" cap="flat" cmpd="sng" algn="ctr">
              <a:solidFill>
                <a:srgbClr val="20B8FF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8476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wCFirm"/>
          <p:cNvSpPr txBox="1"/>
          <p:nvPr userDrawn="1"/>
        </p:nvSpPr>
        <p:spPr>
          <a:xfrm>
            <a:off x="382858" y="6439001"/>
            <a:ext cx="3078403" cy="1482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altLang="zh-CN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Shanghai</a:t>
            </a:r>
            <a:r>
              <a:rPr lang="zh-CN" altLang="en-US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</a:t>
            </a:r>
            <a:r>
              <a:rPr lang="zh-CN" altLang="en-US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Laboratory</a:t>
            </a:r>
            <a:r>
              <a:rPr lang="zh-CN" altLang="en-US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 S</a:t>
            </a:r>
            <a:r>
              <a:rPr lang="en-US" altLang="zh-CN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ep.</a:t>
            </a:r>
            <a:r>
              <a:rPr lang="en-GB" sz="1000" noProof="0" dirty="0">
                <a:solidFill>
                  <a:srgbClr val="025F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2022</a:t>
            </a: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9547754" y="6439001"/>
            <a:ext cx="2240491" cy="14826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defPPr>
              <a:defRPr lang="en-US"/>
            </a:defPPr>
            <a:lvl1pPr marL="0" algn="r" defTabSz="1018540" rtl="0" eaLnBrk="1" latinLnBrk="0" hangingPunct="1">
              <a:defRPr sz="1255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0927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54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44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71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698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255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616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430" algn="l" defTabSz="101854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0185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EBD7F86-1881-4698-8703-FB80B0800997}" type="slidenum">
              <a:rPr kumimoji="0" lang="en-GB" sz="1255" b="0" i="0" u="none" strike="noStrike" kern="1200" cap="none" spc="0" normalizeH="0" baseline="0" noProof="0" smtClean="0">
                <a:ln>
                  <a:noFill/>
                </a:ln>
                <a:solidFill>
                  <a:srgbClr val="025F8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‹#›</a:t>
            </a:fld>
            <a:endParaRPr kumimoji="0" lang="en-GB" sz="1255" b="0" i="0" u="none" strike="noStrike" kern="1200" cap="none" spc="0" normalizeH="0" baseline="0" noProof="0" dirty="0">
              <a:ln>
                <a:noFill/>
              </a:ln>
              <a:solidFill>
                <a:srgbClr val="025F8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677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1352" y="190313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1322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94346-FAB7-4307-875D-0E319C27B5C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9FC2D-1098-4FAD-AE68-710E9C5641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538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9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D1C8F92-A0D6-43EC-AFAD-459E863C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006"/>
            <a:ext cx="10515600" cy="1864100"/>
          </a:xfrm>
        </p:spPr>
        <p:txBody>
          <a:bodyPr>
            <a:normAutofit/>
          </a:bodyPr>
          <a:lstStyle/>
          <a:p>
            <a:r>
              <a:rPr lang="zh-CN" altLang="en-US" b="1" dirty="0"/>
              <a:t>运动会上的</a:t>
            </a:r>
            <a:r>
              <a:rPr lang="en-US" altLang="zh-CN" b="1" dirty="0"/>
              <a:t>AI</a:t>
            </a:r>
            <a:r>
              <a:rPr lang="zh-CN" altLang="en-US" b="1" dirty="0"/>
              <a:t>裁判员</a:t>
            </a:r>
            <a:r>
              <a:rPr lang="en-US" altLang="zh-CN" b="1" dirty="0"/>
              <a:t>---</a:t>
            </a:r>
            <a:br>
              <a:rPr lang="en-US" altLang="zh-CN" b="1" dirty="0"/>
            </a:br>
            <a:r>
              <a:rPr lang="zh-CN" altLang="en-US" b="1" dirty="0"/>
              <a:t>模型训练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FA020A1-A2A5-4A50-9276-BFA27FBE3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915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p3-juejin.byteimg.com/tos-cn-i-k3u1fbpfcp/d15be487a7f243a084fb906503562525~tplv-k3u1fbpfcp-zoom-1.image">
            <a:extLst>
              <a:ext uri="{FF2B5EF4-FFF2-40B4-BE49-F238E27FC236}">
                <a16:creationId xmlns:a16="http://schemas.microsoft.com/office/drawing/2014/main" id="{08ABCCC3-0890-48B5-8DF0-6AC3AB86BA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3" b="21302"/>
          <a:stretch/>
        </p:blipFill>
        <p:spPr bwMode="auto">
          <a:xfrm>
            <a:off x="702734" y="3214211"/>
            <a:ext cx="10236200" cy="26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12">
            <a:extLst>
              <a:ext uri="{FF2B5EF4-FFF2-40B4-BE49-F238E27FC236}">
                <a16:creationId xmlns:a16="http://schemas.microsoft.com/office/drawing/2014/main" id="{473D8D5F-EC6B-4D84-BEFD-D41ED8C7D14C}"/>
              </a:ext>
            </a:extLst>
          </p:cNvPr>
          <p:cNvSpPr/>
          <p:nvPr/>
        </p:nvSpPr>
        <p:spPr>
          <a:xfrm>
            <a:off x="555590" y="395045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4D8DF0-FEA4-4931-986A-ACE8BABD008E}"/>
              </a:ext>
            </a:extLst>
          </p:cNvPr>
          <p:cNvSpPr txBox="1"/>
          <p:nvPr/>
        </p:nvSpPr>
        <p:spPr>
          <a:xfrm>
            <a:off x="1527342" y="271934"/>
            <a:ext cx="5132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50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人类学习</a:t>
            </a:r>
            <a:r>
              <a:rPr lang="en-US" altLang="zh-CN" sz="4000" b="1" dirty="0">
                <a:solidFill>
                  <a:srgbClr val="50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4000" b="1" dirty="0">
                <a:solidFill>
                  <a:srgbClr val="50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503CB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EA8D93-02A1-49ED-99E7-0E30E6C6DFA3}"/>
              </a:ext>
            </a:extLst>
          </p:cNvPr>
          <p:cNvSpPr txBox="1"/>
          <p:nvPr/>
        </p:nvSpPr>
        <p:spPr>
          <a:xfrm>
            <a:off x="1134533" y="61013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数据采集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49EF9D-09B2-43E0-B092-28465200414F}"/>
              </a:ext>
            </a:extLst>
          </p:cNvPr>
          <p:cNvSpPr txBox="1"/>
          <p:nvPr/>
        </p:nvSpPr>
        <p:spPr>
          <a:xfrm>
            <a:off x="3276600" y="61013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特征提取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0C2283-7E96-44AB-9EE2-FFB92D64B5DF}"/>
              </a:ext>
            </a:extLst>
          </p:cNvPr>
          <p:cNvSpPr txBox="1"/>
          <p:nvPr/>
        </p:nvSpPr>
        <p:spPr>
          <a:xfrm>
            <a:off x="5977466" y="61013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模型训练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19FD93-1437-44A7-9290-02F03D2D59F4}"/>
              </a:ext>
            </a:extLst>
          </p:cNvPr>
          <p:cNvSpPr txBox="1"/>
          <p:nvPr/>
        </p:nvSpPr>
        <p:spPr>
          <a:xfrm>
            <a:off x="9228666" y="61013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评估应用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A15D5B-3445-44F0-85C8-C924437A3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024" y="1395718"/>
            <a:ext cx="1809144" cy="14025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1ED77AD-5FAB-46D4-A998-87882A5A7B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209" t="1958" r="25934" b="2310"/>
          <a:stretch/>
        </p:blipFill>
        <p:spPr>
          <a:xfrm>
            <a:off x="977234" y="1556752"/>
            <a:ext cx="1809144" cy="12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6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C46E960-A6AC-4B0F-AD9B-846D7503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66" y="1091670"/>
            <a:ext cx="9525000" cy="5267325"/>
          </a:xfrm>
          <a:prstGeom prst="rect">
            <a:avLst/>
          </a:prstGeom>
        </p:spPr>
      </p:pic>
      <p:sp>
        <p:nvSpPr>
          <p:cNvPr id="6" name="Freeform 12">
            <a:extLst>
              <a:ext uri="{FF2B5EF4-FFF2-40B4-BE49-F238E27FC236}">
                <a16:creationId xmlns:a16="http://schemas.microsoft.com/office/drawing/2014/main" id="{B5718496-E585-4102-BCA1-6D69156FAB99}"/>
              </a:ext>
            </a:extLst>
          </p:cNvPr>
          <p:cNvSpPr/>
          <p:nvPr/>
        </p:nvSpPr>
        <p:spPr>
          <a:xfrm>
            <a:off x="555590" y="395045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0AFAE6-5951-44AD-A38F-7F757EEA7432}"/>
              </a:ext>
            </a:extLst>
          </p:cNvPr>
          <p:cNvSpPr txBox="1"/>
          <p:nvPr/>
        </p:nvSpPr>
        <p:spPr>
          <a:xfrm>
            <a:off x="1527342" y="271934"/>
            <a:ext cx="5132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50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人类学习</a:t>
            </a:r>
            <a:r>
              <a:rPr lang="en-US" altLang="zh-CN" sz="4000" b="1" dirty="0">
                <a:solidFill>
                  <a:srgbClr val="50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sz="4000" b="1" dirty="0">
                <a:solidFill>
                  <a:srgbClr val="50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503CB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62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21李宏毅机器学习笔记_李宏毅机器学习深度学习笔记csdn-CSDN博客">
            <a:extLst>
              <a:ext uri="{FF2B5EF4-FFF2-40B4-BE49-F238E27FC236}">
                <a16:creationId xmlns:a16="http://schemas.microsoft.com/office/drawing/2014/main" id="{50B8E6EB-FD3E-476B-8D07-CE7CB3969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0" y="1996584"/>
            <a:ext cx="7961842" cy="469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12">
            <a:extLst>
              <a:ext uri="{FF2B5EF4-FFF2-40B4-BE49-F238E27FC236}">
                <a16:creationId xmlns:a16="http://schemas.microsoft.com/office/drawing/2014/main" id="{E96B87DC-4569-4237-9BB5-F910811F4724}"/>
              </a:ext>
            </a:extLst>
          </p:cNvPr>
          <p:cNvSpPr/>
          <p:nvPr/>
        </p:nvSpPr>
        <p:spPr>
          <a:xfrm>
            <a:off x="555590" y="395045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FF08AE-617D-4BAB-8A99-DEA5643C06E2}"/>
              </a:ext>
            </a:extLst>
          </p:cNvPr>
          <p:cNvSpPr txBox="1"/>
          <p:nvPr/>
        </p:nvSpPr>
        <p:spPr>
          <a:xfrm>
            <a:off x="1527342" y="271934"/>
            <a:ext cx="6524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50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机器学习本质是解方程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503CB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537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820398" y="2056127"/>
            <a:ext cx="4610789" cy="301235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7213" y="1064831"/>
            <a:ext cx="2308840" cy="95319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模型是什么？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Freeform 12"/>
          <p:cNvSpPr/>
          <p:nvPr/>
        </p:nvSpPr>
        <p:spPr>
          <a:xfrm>
            <a:off x="555590" y="395045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7342" y="271934"/>
            <a:ext cx="5132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03C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</a:t>
            </a:r>
          </a:p>
        </p:txBody>
      </p:sp>
      <p:sp>
        <p:nvSpPr>
          <p:cNvPr id="5" name="Freeform 11"/>
          <p:cNvSpPr/>
          <p:nvPr/>
        </p:nvSpPr>
        <p:spPr>
          <a:xfrm>
            <a:off x="543584" y="1208010"/>
            <a:ext cx="553628" cy="697484"/>
          </a:xfrm>
          <a:custGeom>
            <a:avLst/>
            <a:gdLst/>
            <a:ahLst/>
            <a:cxnLst/>
            <a:rect l="l" t="t" r="r" b="b"/>
            <a:pathLst>
              <a:path w="1584771" h="1996562">
                <a:moveTo>
                  <a:pt x="0" y="0"/>
                </a:moveTo>
                <a:lnTo>
                  <a:pt x="1584771" y="0"/>
                </a:lnTo>
                <a:lnTo>
                  <a:pt x="1584771" y="1996562"/>
                </a:lnTo>
                <a:lnTo>
                  <a:pt x="0" y="1996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244905" y="2296375"/>
                <a:ext cx="3703682" cy="2601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简单理解为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03CB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函数</a:t>
                </a:r>
                <a14:m>
                  <m:oMath xmlns:m="http://schemas.openxmlformats.org/officeDocument/2006/math">
                    <m:r>
                      <a:rPr kumimoji="0" lang="en-US" altLang="zh-CN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zh-CN" alt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zh-CN" alt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zh-CN" alt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zh-CN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CN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依据不同的输入</a:t>
                </a:r>
                <a14:m>
                  <m:oMath xmlns:m="http://schemas.openxmlformats.org/officeDocument/2006/math">
                    <m:r>
                      <a:rPr kumimoji="0" lang="zh-CN" alt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，推测出结果 </a:t>
                </a:r>
                <a14:m>
                  <m:oMath xmlns:m="http://schemas.openxmlformats.org/officeDocument/2006/math">
                    <m:r>
                      <a:rPr kumimoji="0" lang="zh-CN" alt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905" y="2296375"/>
                <a:ext cx="3703682" cy="2601546"/>
              </a:xfrm>
              <a:prstGeom prst="rect">
                <a:avLst/>
              </a:prstGeom>
              <a:blipFill rotWithShape="1">
                <a:blip r:embed="rId5"/>
                <a:stretch>
                  <a:fillRect l="-8" t="-8" r="1" b="-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5766487" y="94529"/>
            <a:ext cx="0" cy="6697362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932502" y="2031261"/>
            <a:ext cx="6056298" cy="1851982"/>
          </a:xfrm>
          <a:prstGeom prst="rect">
            <a:avLst/>
          </a:prstGeom>
          <a:solidFill>
            <a:srgbClr val="FFD9B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BaseML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KNN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模块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model=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cls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(MLP')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40209" y="5424084"/>
            <a:ext cx="4445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不同的模型相当于不同的函数，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03C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数据的特征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符合哪个模型</a:t>
            </a:r>
          </a:p>
        </p:txBody>
      </p:sp>
      <p:sp>
        <p:nvSpPr>
          <p:cNvPr id="13" name="等腰三角形 12"/>
          <p:cNvSpPr/>
          <p:nvPr/>
        </p:nvSpPr>
        <p:spPr>
          <a:xfrm>
            <a:off x="8598644" y="4987050"/>
            <a:ext cx="527222" cy="279544"/>
          </a:xfrm>
          <a:prstGeom prst="triangle">
            <a:avLst/>
          </a:prstGeom>
          <a:solidFill>
            <a:srgbClr val="503C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5918887" y="80319"/>
            <a:ext cx="0" cy="6697362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4693" t="20687" r="43885"/>
          <a:stretch>
            <a:fillRect/>
          </a:stretch>
        </p:blipFill>
        <p:spPr>
          <a:xfrm>
            <a:off x="6273114" y="2273128"/>
            <a:ext cx="5411836" cy="4343571"/>
          </a:xfrm>
          <a:prstGeom prst="rect">
            <a:avLst/>
          </a:prstGeom>
        </p:spPr>
      </p:pic>
      <p:sp>
        <p:nvSpPr>
          <p:cNvPr id="13" name="矩形: 圆角 12"/>
          <p:cNvSpPr/>
          <p:nvPr/>
        </p:nvSpPr>
        <p:spPr>
          <a:xfrm>
            <a:off x="558032" y="1532002"/>
            <a:ext cx="5171643" cy="399146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911887" y="2273129"/>
                <a:ext cx="4756580" cy="25092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训练模型</a:t>
                </a: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03CB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权重</a:t>
                </a:r>
                <a14:m>
                  <m:oMath xmlns:m="http://schemas.openxmlformats.org/officeDocument/2006/math">
                    <m:r>
                      <a:rPr kumimoji="0" lang="en-US" altLang="zh-CN" sz="2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503CB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𝐰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，相当于依据已有</a:t>
                </a:r>
                <a14:m>
                  <m:oMath xmlns:m="http://schemas.openxmlformats.org/officeDocument/2006/math">
                    <m:r>
                      <a:rPr kumimoji="0" lang="en-US" altLang="zh-CN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𝑥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pt-BR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pt-BR" altLang="zh-CN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，确定函数的参数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altLang="zh-C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𝑦</m:t>
                      </m:r>
                      <m:r>
                        <a:rPr kumimoji="0" lang="pt-BR" altLang="zh-C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+</m:t>
                      </m:r>
                      <m:r>
                        <a:rPr kumimoji="0" lang="zh-CN" altLang="en-US" sz="2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等线" panose="0201060003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、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zh-CN" altLang="en-US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、</m:t>
                    </m:r>
                    <m:r>
                      <a:rPr kumimoji="0" lang="zh-CN" altLang="en-US" sz="2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𝑏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。</a:t>
                </a:r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887" y="2273129"/>
                <a:ext cx="4756580" cy="2509213"/>
              </a:xfrm>
              <a:prstGeom prst="rect">
                <a:avLst/>
              </a:prstGeom>
              <a:blipFill rotWithShape="1">
                <a:blip r:embed="rId4"/>
                <a:stretch>
                  <a:fillRect l="-1" t="-18" r="10" b="-2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911887" y="473727"/>
            <a:ext cx="5006997" cy="95319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训练模型，训练的是什么？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Freeform 11"/>
          <p:cNvSpPr/>
          <p:nvPr/>
        </p:nvSpPr>
        <p:spPr>
          <a:xfrm>
            <a:off x="358259" y="578806"/>
            <a:ext cx="553628" cy="697484"/>
          </a:xfrm>
          <a:custGeom>
            <a:avLst/>
            <a:gdLst/>
            <a:ahLst/>
            <a:cxnLst/>
            <a:rect l="l" t="t" r="r" b="b"/>
            <a:pathLst>
              <a:path w="1584771" h="1996562">
                <a:moveTo>
                  <a:pt x="0" y="0"/>
                </a:moveTo>
                <a:lnTo>
                  <a:pt x="1584771" y="0"/>
                </a:lnTo>
                <a:lnTo>
                  <a:pt x="1584771" y="1996562"/>
                </a:lnTo>
                <a:lnTo>
                  <a:pt x="0" y="1996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12396" y="621848"/>
            <a:ext cx="5221572" cy="1308884"/>
          </a:xfrm>
          <a:prstGeom prst="rect">
            <a:avLst/>
          </a:prstGeom>
          <a:solidFill>
            <a:srgbClr val="FFD9B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模型训练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model.train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5476362" y="118419"/>
            <a:ext cx="0" cy="6697362"/>
          </a:xfrm>
          <a:prstGeom prst="line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767540" y="1864753"/>
            <a:ext cx="4065617" cy="17537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57300" y="2133335"/>
            <a:ext cx="3575855" cy="12165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模型结构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模型权重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03C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带有明确参数的方程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503CB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1887" y="473727"/>
            <a:ext cx="4564475" cy="95319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保存模型保存的是什么？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Freeform 11"/>
          <p:cNvSpPr/>
          <p:nvPr/>
        </p:nvSpPr>
        <p:spPr>
          <a:xfrm>
            <a:off x="369269" y="637046"/>
            <a:ext cx="553628" cy="697484"/>
          </a:xfrm>
          <a:custGeom>
            <a:avLst/>
            <a:gdLst/>
            <a:ahLst/>
            <a:cxnLst/>
            <a:rect l="l" t="t" r="r" b="b"/>
            <a:pathLst>
              <a:path w="1584771" h="1996562">
                <a:moveTo>
                  <a:pt x="0" y="0"/>
                </a:moveTo>
                <a:lnTo>
                  <a:pt x="1584771" y="0"/>
                </a:lnTo>
                <a:lnTo>
                  <a:pt x="1584771" y="1996562"/>
                </a:lnTo>
                <a:lnTo>
                  <a:pt x="0" y="1996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82097" y="1245459"/>
            <a:ext cx="6360725" cy="1308884"/>
          </a:xfrm>
          <a:prstGeom prst="rect">
            <a:avLst/>
          </a:prstGeom>
          <a:solidFill>
            <a:srgbClr val="FFD9B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760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 保存模型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model.save(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'checkpoints/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model.pkl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')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/>
          <a:srcRect l="53617" t="280" r="157" b="20408"/>
          <a:stretch>
            <a:fillRect/>
          </a:stretch>
        </p:blipFill>
        <p:spPr>
          <a:xfrm>
            <a:off x="808560" y="3676380"/>
            <a:ext cx="3705842" cy="3308619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7051553" y="3096393"/>
            <a:ext cx="3086099" cy="1509153"/>
            <a:chOff x="6715639" y="2915270"/>
            <a:chExt cx="3086099" cy="1509153"/>
          </a:xfrm>
        </p:grpSpPr>
        <p:sp>
          <p:nvSpPr>
            <p:cNvPr id="17" name="椭圆 16"/>
            <p:cNvSpPr/>
            <p:nvPr/>
          </p:nvSpPr>
          <p:spPr>
            <a:xfrm>
              <a:off x="6715639" y="2915270"/>
              <a:ext cx="3086099" cy="150915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6835016" y="3289141"/>
              <a:ext cx="1816100" cy="76140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770493" y="3212483"/>
              <a:ext cx="951942" cy="95319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模型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313713" y="3212483"/>
              <a:ext cx="951942" cy="95319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权重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6356012" y="5873602"/>
                <a:ext cx="4950415" cy="6463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rPr>
                  <a:t>save</a:t>
                </a:r>
                <a14:m>
                  <m:oMath xmlns:m="http://schemas.openxmlformats.org/officeDocument/2006/math">
                    <m:r>
                      <a:rPr kumimoji="0" lang="zh-CN" altLang="en-US" sz="3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：</m:t>
                    </m:r>
                    <m:r>
                      <a:rPr kumimoji="0" lang="pt-BR" altLang="zh-CN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𝒚</m:t>
                    </m:r>
                    <m:r>
                      <a:rPr kumimoji="0" lang="pt-BR" altLang="zh-CN" sz="3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altLang="zh-C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0" lang="en-US" altLang="zh-CN" sz="3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altLang="zh-C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𝒙</m:t>
                        </m:r>
                      </m:e>
                      <m:sub>
                        <m:r>
                          <a:rPr kumimoji="0" lang="en-US" altLang="zh-C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𝟐</m:t>
                        </m:r>
                      </m:sub>
                    </m:sSub>
                    <m:r>
                      <a:rPr kumimoji="0" lang="en-US" altLang="zh-CN" sz="3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−</m:t>
                    </m:r>
                    <m:r>
                      <a:rPr kumimoji="0" lang="en-US" altLang="zh-CN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𝟐</m:t>
                    </m:r>
                  </m:oMath>
                </a14:m>
                <a:r>
                  <a:rPr kumimoji="0" lang="en-US" altLang="zh-CN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等线" panose="02010600030101010101" pitchFamily="2" charset="-122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012" y="5873602"/>
                <a:ext cx="4950415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6" t="-75" r="5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箭头: 上下 26"/>
          <p:cNvSpPr/>
          <p:nvPr/>
        </p:nvSpPr>
        <p:spPr>
          <a:xfrm>
            <a:off x="8397636" y="4744182"/>
            <a:ext cx="665594" cy="977900"/>
          </a:xfrm>
          <a:prstGeom prst="up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1BE5609-717E-4E38-93DE-792F2F9A9134}"/>
              </a:ext>
            </a:extLst>
          </p:cNvPr>
          <p:cNvSpPr txBox="1"/>
          <p:nvPr/>
        </p:nvSpPr>
        <p:spPr>
          <a:xfrm>
            <a:off x="911887" y="473727"/>
            <a:ext cx="4564475" cy="95319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什么是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loss</a:t>
            </a:r>
          </a:p>
        </p:txBody>
      </p:sp>
      <p:sp>
        <p:nvSpPr>
          <p:cNvPr id="3" name="Freeform 11">
            <a:extLst>
              <a:ext uri="{FF2B5EF4-FFF2-40B4-BE49-F238E27FC236}">
                <a16:creationId xmlns:a16="http://schemas.microsoft.com/office/drawing/2014/main" id="{582666A1-E2F0-478E-88AD-F970B24B291A}"/>
              </a:ext>
            </a:extLst>
          </p:cNvPr>
          <p:cNvSpPr/>
          <p:nvPr/>
        </p:nvSpPr>
        <p:spPr>
          <a:xfrm>
            <a:off x="369269" y="637046"/>
            <a:ext cx="553628" cy="697484"/>
          </a:xfrm>
          <a:custGeom>
            <a:avLst/>
            <a:gdLst/>
            <a:ahLst/>
            <a:cxnLst/>
            <a:rect l="l" t="t" r="r" b="b"/>
            <a:pathLst>
              <a:path w="1584771" h="1996562">
                <a:moveTo>
                  <a:pt x="0" y="0"/>
                </a:moveTo>
                <a:lnTo>
                  <a:pt x="1584771" y="0"/>
                </a:lnTo>
                <a:lnTo>
                  <a:pt x="1584771" y="1996562"/>
                </a:lnTo>
                <a:lnTo>
                  <a:pt x="0" y="199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31301E-AD71-4830-8FAC-53F5BA2D6D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040"/>
          <a:stretch/>
        </p:blipFill>
        <p:spPr>
          <a:xfrm>
            <a:off x="1100666" y="2115241"/>
            <a:ext cx="10259796" cy="42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9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6606" b="14376"/>
          <a:stretch>
            <a:fillRect/>
          </a:stretch>
        </p:blipFill>
        <p:spPr>
          <a:xfrm>
            <a:off x="0" y="1376990"/>
            <a:ext cx="12192000" cy="4104020"/>
          </a:xfrm>
          <a:prstGeom prst="rect">
            <a:avLst/>
          </a:prstGeom>
        </p:spPr>
      </p:pic>
      <p:sp>
        <p:nvSpPr>
          <p:cNvPr id="5" name="Freeform 12"/>
          <p:cNvSpPr/>
          <p:nvPr/>
        </p:nvSpPr>
        <p:spPr>
          <a:xfrm>
            <a:off x="555590" y="493901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7342" y="370790"/>
            <a:ext cx="28593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03C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认识数据集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2"/>
          <p:cNvSpPr/>
          <p:nvPr/>
        </p:nvSpPr>
        <p:spPr>
          <a:xfrm>
            <a:off x="555590" y="493901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27342" y="370790"/>
            <a:ext cx="3477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03C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数据集的划分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t="25021" b="23006"/>
          <a:stretch>
            <a:fillRect/>
          </a:stretch>
        </p:blipFill>
        <p:spPr>
          <a:xfrm>
            <a:off x="-7416" y="3917984"/>
            <a:ext cx="12192000" cy="25053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5935" y="1340807"/>
            <a:ext cx="11301520" cy="243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个参考原则：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对于小规模样本集（几万量级），常用的分配比例是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60%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训练集、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20%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验证集、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20%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测试集。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2C2F9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对于大规模样本集（百万级以上），只要验证集和测试集的数量足够即可，例如有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100w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条数据，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12121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那么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留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1w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验证集，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1w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即可。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1000w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的数据，同样留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1w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验证集和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1w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测试集。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超参数越少，或者超参数很容易调整，那么可以减少验证集的比例，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C2F9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更多的分配给训练集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8" name="Freeform 11"/>
          <p:cNvSpPr/>
          <p:nvPr/>
        </p:nvSpPr>
        <p:spPr>
          <a:xfrm>
            <a:off x="626326" y="1153279"/>
            <a:ext cx="553628" cy="697484"/>
          </a:xfrm>
          <a:custGeom>
            <a:avLst/>
            <a:gdLst/>
            <a:ahLst/>
            <a:cxnLst/>
            <a:rect l="l" t="t" r="r" b="b"/>
            <a:pathLst>
              <a:path w="1584771" h="1996562">
                <a:moveTo>
                  <a:pt x="0" y="0"/>
                </a:moveTo>
                <a:lnTo>
                  <a:pt x="1584771" y="0"/>
                </a:lnTo>
                <a:lnTo>
                  <a:pt x="1584771" y="1996562"/>
                </a:lnTo>
                <a:lnTo>
                  <a:pt x="0" y="1996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2">
            <a:extLst>
              <a:ext uri="{FF2B5EF4-FFF2-40B4-BE49-F238E27FC236}">
                <a16:creationId xmlns:a16="http://schemas.microsoft.com/office/drawing/2014/main" id="{556A6D9B-6235-4452-ABC3-A5A7BCADCDF3}"/>
              </a:ext>
            </a:extLst>
          </p:cNvPr>
          <p:cNvSpPr/>
          <p:nvPr/>
        </p:nvSpPr>
        <p:spPr>
          <a:xfrm>
            <a:off x="555590" y="493901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8A473D-B97D-47AF-AC7C-E009B077C6AD}"/>
              </a:ext>
            </a:extLst>
          </p:cNvPr>
          <p:cNvSpPr txBox="1"/>
          <p:nvPr/>
        </p:nvSpPr>
        <p:spPr>
          <a:xfrm>
            <a:off x="1527342" y="370790"/>
            <a:ext cx="28593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03C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课堂任务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3E922F-0060-4A47-853A-921E9A386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39" y="1219150"/>
            <a:ext cx="11079121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1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6088AB-F30D-4B97-9A50-1EE38FCE90D1}"/>
              </a:ext>
            </a:extLst>
          </p:cNvPr>
          <p:cNvSpPr/>
          <p:nvPr/>
        </p:nvSpPr>
        <p:spPr>
          <a:xfrm>
            <a:off x="1269999" y="1501969"/>
            <a:ext cx="7349067" cy="4925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b="1" i="0" dirty="0">
                <a:solidFill>
                  <a:srgbClr val="174EA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b="1" i="0" dirty="0">
                <a:solidFill>
                  <a:srgbClr val="174EA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为什么要切分数据？</a:t>
            </a:r>
            <a:endParaRPr lang="zh-CN" altLang="en-US" b="0" i="0" dirty="0">
              <a:solidFill>
                <a:srgbClr val="3C404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300000"/>
              </a:lnSpc>
            </a:pPr>
            <a:r>
              <a:rPr lang="zh-CN" altLang="en-US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为了像期末考试一样，公平地验证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是不是真学会了。</a:t>
            </a:r>
            <a:endParaRPr lang="en-US" altLang="zh-CN" b="0" i="0" dirty="0">
              <a:solidFill>
                <a:srgbClr val="3C404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300000"/>
              </a:lnSpc>
            </a:pPr>
            <a:r>
              <a:rPr lang="en-US" altLang="zh-CN" b="1" i="0" dirty="0">
                <a:solidFill>
                  <a:srgbClr val="174EA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b="1" i="0" dirty="0">
                <a:solidFill>
                  <a:srgbClr val="174EA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什么是模型？</a:t>
            </a:r>
            <a:endParaRPr lang="en-US" altLang="zh-CN" b="1" i="0" dirty="0">
              <a:solidFill>
                <a:srgbClr val="174EA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300000"/>
              </a:lnSpc>
            </a:pPr>
            <a:r>
              <a:rPr lang="zh-CN" altLang="en-US" dirty="0"/>
              <a:t>模型是计算机从训练数据中总结出来的</a:t>
            </a:r>
            <a:r>
              <a:rPr lang="zh-CN" altLang="en-US" b="1" dirty="0"/>
              <a:t>“经验规律”</a:t>
            </a:r>
            <a:r>
              <a:rPr lang="zh-CN" altLang="en-US" dirty="0"/>
              <a:t>。</a:t>
            </a:r>
            <a:endParaRPr lang="zh-CN" altLang="en-US" b="0" i="0" dirty="0">
              <a:solidFill>
                <a:srgbClr val="3C404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300000"/>
              </a:lnSpc>
            </a:pPr>
            <a:r>
              <a:rPr lang="en-US" altLang="zh-CN" b="1" dirty="0">
                <a:solidFill>
                  <a:srgbClr val="174E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b="1" i="0" dirty="0">
                <a:solidFill>
                  <a:srgbClr val="174EA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zh-CN" altLang="en-US" b="1" i="0" dirty="0">
                <a:solidFill>
                  <a:srgbClr val="174EA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训练</a:t>
            </a:r>
            <a:r>
              <a:rPr lang="zh-CN" altLang="en-US" b="1" dirty="0">
                <a:solidFill>
                  <a:srgbClr val="174EA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过程是怎么样的</a:t>
            </a:r>
            <a:r>
              <a:rPr lang="zh-CN" altLang="en-US" b="1" i="0" dirty="0">
                <a:solidFill>
                  <a:srgbClr val="174EA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  <a:endParaRPr lang="zh-CN" altLang="en-US" b="0" i="0" dirty="0">
              <a:solidFill>
                <a:srgbClr val="3C4043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300000"/>
              </a:lnSpc>
            </a:pPr>
            <a:r>
              <a:rPr lang="zh-CN" altLang="en-US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是机器通过“试错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(Loss)”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，自动总结出“经验 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(Model)”</a:t>
            </a:r>
            <a:r>
              <a:rPr lang="zh-CN" altLang="en-US" b="0" i="0" dirty="0">
                <a:solidFill>
                  <a:srgbClr val="3C4043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的过程。</a:t>
            </a: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6318E143-4005-43E4-95C3-09F21ED01747}"/>
              </a:ext>
            </a:extLst>
          </p:cNvPr>
          <p:cNvSpPr/>
          <p:nvPr/>
        </p:nvSpPr>
        <p:spPr>
          <a:xfrm>
            <a:off x="555590" y="493901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039B8-12D9-4BD7-BC11-C8F6E6B1F484}"/>
              </a:ext>
            </a:extLst>
          </p:cNvPr>
          <p:cNvSpPr txBox="1"/>
          <p:nvPr/>
        </p:nvSpPr>
        <p:spPr>
          <a:xfrm>
            <a:off x="1527342" y="370790"/>
            <a:ext cx="34771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i="0" dirty="0">
                <a:solidFill>
                  <a:srgbClr val="1A73E8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421972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PyTorch 神经网络基础| 菜鸟教程">
            <a:extLst>
              <a:ext uri="{FF2B5EF4-FFF2-40B4-BE49-F238E27FC236}">
                <a16:creationId xmlns:a16="http://schemas.microsoft.com/office/drawing/2014/main" id="{E8513A0D-D0FD-4368-84C8-F5C345671B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076" name="Picture 4" descr="什么是神经网络 (机器学习) what is neural network in machine learning">
            <a:extLst>
              <a:ext uri="{FF2B5EF4-FFF2-40B4-BE49-F238E27FC236}">
                <a16:creationId xmlns:a16="http://schemas.microsoft.com/office/drawing/2014/main" id="{5EB76EC3-C05E-42F9-B068-346BFB2D3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99" y="1245128"/>
            <a:ext cx="9389534" cy="528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12">
            <a:extLst>
              <a:ext uri="{FF2B5EF4-FFF2-40B4-BE49-F238E27FC236}">
                <a16:creationId xmlns:a16="http://schemas.microsoft.com/office/drawing/2014/main" id="{44CCE4CC-D4E8-4350-870D-0C380EBB04A6}"/>
              </a:ext>
            </a:extLst>
          </p:cNvPr>
          <p:cNvSpPr/>
          <p:nvPr/>
        </p:nvSpPr>
        <p:spPr>
          <a:xfrm>
            <a:off x="555590" y="493901"/>
            <a:ext cx="971752" cy="461666"/>
          </a:xfrm>
          <a:custGeom>
            <a:avLst/>
            <a:gdLst/>
            <a:ahLst/>
            <a:cxnLst/>
            <a:rect l="l" t="t" r="r" b="b"/>
            <a:pathLst>
              <a:path w="1696671" h="797906">
                <a:moveTo>
                  <a:pt x="0" y="0"/>
                </a:moveTo>
                <a:lnTo>
                  <a:pt x="1696671" y="0"/>
                </a:lnTo>
                <a:lnTo>
                  <a:pt x="1696671" y="797907"/>
                </a:lnTo>
                <a:lnTo>
                  <a:pt x="0" y="797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597576-7775-40D1-BB34-F9D3F323D109}"/>
              </a:ext>
            </a:extLst>
          </p:cNvPr>
          <p:cNvSpPr txBox="1"/>
          <p:nvPr/>
        </p:nvSpPr>
        <p:spPr>
          <a:xfrm>
            <a:off x="1527342" y="370790"/>
            <a:ext cx="52375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503CB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下一课：模型优化</a:t>
            </a:r>
          </a:p>
        </p:txBody>
      </p:sp>
    </p:spTree>
    <p:extLst>
      <p:ext uri="{BB962C8B-B14F-4D97-AF65-F5344CB8AC3E}">
        <p14:creationId xmlns:p14="http://schemas.microsoft.com/office/powerpoint/2010/main" val="39086683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403</Words>
  <Application>Microsoft Office PowerPoint</Application>
  <PresentationFormat>宽屏</PresentationFormat>
  <Paragraphs>52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-apple-system</vt:lpstr>
      <vt:lpstr>等线</vt:lpstr>
      <vt:lpstr>等线 Light</vt:lpstr>
      <vt:lpstr>思源黑体 CN Medium</vt:lpstr>
      <vt:lpstr>Microsoft YaHei</vt:lpstr>
      <vt:lpstr>Microsoft YaHei</vt:lpstr>
      <vt:lpstr>Arial</vt:lpstr>
      <vt:lpstr>Cambria Math</vt:lpstr>
      <vt:lpstr>1_Office 主题​​</vt:lpstr>
      <vt:lpstr>运动会上的AI裁判员--- 模型训练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模型训练=</dc:title>
  <dc:creator>lenovo</dc:creator>
  <cp:lastModifiedBy>lenovo</cp:lastModifiedBy>
  <cp:revision>3</cp:revision>
  <dcterms:created xsi:type="dcterms:W3CDTF">2025-12-08T01:50:56Z</dcterms:created>
  <dcterms:modified xsi:type="dcterms:W3CDTF">2025-12-08T02:32:09Z</dcterms:modified>
</cp:coreProperties>
</file>